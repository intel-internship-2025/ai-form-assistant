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7" r:id="rId2"/>
    <p:sldId id="268" r:id="rId3"/>
    <p:sldId id="269" r:id="rId4"/>
    <p:sldId id="270" r:id="rId5"/>
    <p:sldId id="271" r:id="rId6"/>
    <p:sldId id="272" r:id="rId7"/>
    <p:sldId id="273" r:id="rId8"/>
    <p:sldId id="278" r:id="rId9"/>
    <p:sldId id="279" r:id="rId10"/>
    <p:sldId id="274" r:id="rId11"/>
    <p:sldId id="275" r:id="rId12"/>
    <p:sldId id="277" r:id="rId13"/>
    <p:sldId id="2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36"/>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72F999-F233-4189-89DA-AB0DABE35E01}" type="datetimeFigureOut">
              <a:rPr lang="en-IN" smtClean="0"/>
              <a:t>05-08-2026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6D6DD9-F4DA-4BA5-A5B4-A410B8CC8947}"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7DDA0C-CA94-4E1E-9AF6-35490985FFF1}"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4DF891-05CC-43F0-87F5-75C0BAF1A956}" type="slidenum">
              <a:rPr lang="en-IN" smtClean="0"/>
              <a:t>‹#›</a:t>
            </a:fld>
            <a:endParaRPr lang="en-IN"/>
          </a:p>
        </p:txBody>
      </p:sp>
    </p:spTree>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5A06449-B276-4DCD-AC6D-E18AF9472631}" type="datetime3">
              <a:rPr lang="en-US" smtClean="0"/>
              <a:t>5 August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683F7F-F9BF-4227-AE3A-7484D3B92FE2}" type="datetime3">
              <a:rPr lang="en-US" smtClean="0"/>
              <a:t>5 August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05213C-AC78-4741-9320-1533D6095920}" type="datetime3">
              <a:rPr lang="en-US" smtClean="0"/>
              <a:t>5 August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5E0AEF-0BBC-4A6C-9473-2C694D57D06A}" type="datetime3">
              <a:rPr lang="en-US" smtClean="0"/>
              <a:t>5 August 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3B4573-BEAE-442C-93D2-EB2A046F570D}" type="datetime3">
              <a:rPr lang="en-US" smtClean="0"/>
              <a:t>5 August 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1FBE9A4-997E-4D3B-BFA4-6AE85A1DCE4F}" type="datetime3">
              <a:rPr lang="en-US" smtClean="0"/>
              <a:t>5 August 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AF65CB-B480-4450-9C81-5AA1C1CCD1C6}" type="datetime3">
              <a:rPr lang="en-US" smtClean="0"/>
              <a:t>5 August 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7760E2D-F36C-4B49-B1C5-DD00B241D90C}" type="datetime3">
              <a:rPr lang="en-US" smtClean="0"/>
              <a:t>5 August 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D3D86AA-3029-44B8-B732-47173FCF1799}" type="datetime3">
              <a:rPr lang="en-US" smtClean="0"/>
              <a:t>5 August 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0F25FC-915C-4522-A6A7-F4B744542444}" type="datetime3">
              <a:rPr lang="en-US" smtClean="0"/>
              <a:t>5 August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DD254D-FDD3-49CB-A408-EB50BDF62C55}" type="datetime3">
              <a:rPr lang="en-US" smtClean="0"/>
              <a:t>5 August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84C683-BBCC-4F57-A4FC-4635FBAD29B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3A42A8BA-4CF6-46D5-BDAC-3CAB5A59BEB0}" type="datetime3">
              <a:rPr lang="en-US" smtClean="0"/>
              <a:t>5 August 2026</a:t>
            </a:fld>
            <a:endParaRPr lang="en-IN"/>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IN"/>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8C84C683-BBCC-4F57-A4FC-4635FBAD29B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950" y="-8932"/>
              <a:ext cx="3010535" cy="981710"/>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7" name="Subtitle 2"/>
          <p:cNvSpPr txBox="1"/>
          <p:nvPr/>
        </p:nvSpPr>
        <p:spPr>
          <a:xfrm>
            <a:off x="1127780" y="3681497"/>
            <a:ext cx="9925664" cy="1038654"/>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Presenter Name: Priyal Banerjee</a:t>
            </a:r>
          </a:p>
          <a:p>
            <a:pPr marL="0" indent="0">
              <a:buNone/>
            </a:pPr>
            <a:r>
              <a:rPr lang="en-US" dirty="0"/>
              <a:t>Affiliation: Department of CSE, MCKV Institute of Engineering</a:t>
            </a:r>
          </a:p>
        </p:txBody>
      </p:sp>
      <p:sp>
        <p:nvSpPr>
          <p:cNvPr id="19" name="TextBox 18"/>
          <p:cNvSpPr txBox="1"/>
          <p:nvPr/>
        </p:nvSpPr>
        <p:spPr>
          <a:xfrm>
            <a:off x="594380" y="1110110"/>
            <a:ext cx="10992465" cy="2503249"/>
          </a:xfrm>
          <a:prstGeom prst="rect">
            <a:avLst/>
          </a:prstGeom>
          <a:noFill/>
        </p:spPr>
        <p:txBody>
          <a:bodyPr wrap="square" rtlCol="0">
            <a:spAutoFit/>
          </a:bodyPr>
          <a:lstStyle/>
          <a:p>
            <a:pPr algn="ctr"/>
            <a:r>
              <a:rPr lang="en-US" sz="2500" b="1" dirty="0">
                <a:latin typeface="Times New Roman" panose="02020603050405020304" pitchFamily="18" charset="0"/>
                <a:cs typeface="Times New Roman" panose="02020603050405020304" pitchFamily="18" charset="0"/>
              </a:rPr>
              <a:t>Paper ID: 460</a:t>
            </a:r>
            <a:r>
              <a:rPr lang="en-US" sz="3000" b="1" dirty="0">
                <a:latin typeface="Times New Roman" panose="02020603050405020304" pitchFamily="18" charset="0"/>
                <a:cs typeface="Times New Roman" panose="02020603050405020304" pitchFamily="18" charset="0"/>
              </a:rPr>
              <a:t> </a:t>
            </a:r>
          </a:p>
          <a:p>
            <a:pPr algn="ctr">
              <a:spcBef>
                <a:spcPts val="500"/>
              </a:spcBef>
            </a:pPr>
            <a:r>
              <a:rPr lang="en-US" sz="3000" b="1" dirty="0">
                <a:latin typeface="Times New Roman" panose="02020603050405020304" pitchFamily="18" charset="0"/>
                <a:cs typeface="Times New Roman" panose="02020603050405020304" pitchFamily="18" charset="0"/>
              </a:rPr>
              <a:t>Multi-modal AI Framework for Digital Citizen Automation leveraging Large Language Models, Optical Character Recognition and Translation</a:t>
            </a:r>
          </a:p>
          <a:p>
            <a:pPr algn="ctr">
              <a:spcBef>
                <a:spcPts val="1000"/>
              </a:spcBef>
            </a:pPr>
            <a:r>
              <a:rPr lang="en-US" sz="2000" dirty="0">
                <a:cs typeface="Times New Roman" panose="02020603050405020304" pitchFamily="18" charset="0"/>
              </a:rPr>
              <a:t>Satakshi Poddar, Priyal Banerjee, Tanya Shaw, Deep Suman Dev</a:t>
            </a:r>
            <a:endParaRPr lang="en-IN" sz="2000" dirty="0">
              <a:cs typeface="Times New Roman" panose="02020603050405020304" pitchFamily="18" charset="0"/>
            </a:endParaRPr>
          </a:p>
        </p:txBody>
      </p:sp>
      <p:sp>
        <p:nvSpPr>
          <p:cNvPr id="20" name="TextBox 19"/>
          <p:cNvSpPr txBox="1"/>
          <p:nvPr/>
        </p:nvSpPr>
        <p:spPr>
          <a:xfrm>
            <a:off x="1098662" y="4704534"/>
            <a:ext cx="9665110" cy="1568450"/>
          </a:xfrm>
          <a:prstGeom prst="rect">
            <a:avLst/>
          </a:prstGeom>
          <a:noFill/>
        </p:spPr>
        <p:txBody>
          <a:bodyPr wrap="square" rtlCol="0">
            <a:spAutoFit/>
          </a:bodyPr>
          <a:lstStyle/>
          <a:p>
            <a:pPr algn="ctr"/>
            <a:r>
              <a:rPr lang="en-US" altLang="en-IN" sz="2400" b="1" i="0" dirty="0">
                <a:solidFill>
                  <a:schemeClr val="accent1">
                    <a:lumMod val="75000"/>
                  </a:schemeClr>
                </a:solidFill>
                <a:latin typeface="Times New Roman" panose="02020603050405020304" pitchFamily="18" charset="0"/>
                <a:cs typeface="Times New Roman" panose="02020603050405020304" pitchFamily="18" charset="0"/>
              </a:rPr>
              <a:t>4</a:t>
            </a:r>
            <a:r>
              <a:rPr lang="en-US" altLang="en-IN" sz="2400" b="1" i="0" baseline="30000" dirty="0">
                <a:solidFill>
                  <a:schemeClr val="accent1">
                    <a:lumMod val="75000"/>
                  </a:schemeClr>
                </a:solidFill>
                <a:latin typeface="Times New Roman" panose="02020603050405020304" pitchFamily="18" charset="0"/>
                <a:cs typeface="Times New Roman" panose="02020603050405020304" pitchFamily="18" charset="0"/>
              </a:rPr>
              <a:t>th</a:t>
            </a:r>
            <a:r>
              <a:rPr lang="en-IN" sz="2400" b="1" i="0" baseline="30000" dirty="0">
                <a:solidFill>
                  <a:schemeClr val="accent1">
                    <a:lumMod val="75000"/>
                  </a:schemeClr>
                </a:solidFill>
                <a:latin typeface="Times New Roman" panose="02020603050405020304" pitchFamily="18" charset="0"/>
                <a:cs typeface="Times New Roman" panose="02020603050405020304" pitchFamily="18" charset="0"/>
              </a:rPr>
              <a:t> </a:t>
            </a:r>
            <a:r>
              <a:rPr lang="en-IN" sz="2400" b="1" i="0" dirty="0">
                <a:solidFill>
                  <a:schemeClr val="accent1">
                    <a:lumMod val="75000"/>
                  </a:schemeClr>
                </a:solidFill>
                <a:latin typeface="Times New Roman" panose="02020603050405020304" pitchFamily="18" charset="0"/>
                <a:cs typeface="Times New Roman" panose="02020603050405020304" pitchFamily="18" charset="0"/>
              </a:rPr>
              <a:t>International Conference on Advancements in Smart, Secure</a:t>
            </a:r>
          </a:p>
          <a:p>
            <a:pPr algn="ctr"/>
            <a:r>
              <a:rPr lang="en-IN" sz="2400" b="1" dirty="0">
                <a:solidFill>
                  <a:schemeClr val="accent1">
                    <a:lumMod val="75000"/>
                  </a:schemeClr>
                </a:solidFill>
                <a:latin typeface="Times New Roman" panose="02020603050405020304" pitchFamily="18" charset="0"/>
                <a:cs typeface="Times New Roman" panose="02020603050405020304" pitchFamily="18" charset="0"/>
              </a:rPr>
              <a:t>a</a:t>
            </a:r>
            <a:r>
              <a:rPr lang="en-IN" sz="2400" b="1" i="0" dirty="0">
                <a:solidFill>
                  <a:schemeClr val="accent1">
                    <a:lumMod val="75000"/>
                  </a:schemeClr>
                </a:solidFill>
                <a:latin typeface="Times New Roman" panose="02020603050405020304" pitchFamily="18" charset="0"/>
                <a:cs typeface="Times New Roman" panose="02020603050405020304" pitchFamily="18" charset="0"/>
              </a:rPr>
              <a:t>nd Intelligent Computing</a:t>
            </a:r>
          </a:p>
          <a:p>
            <a:pPr algn="ctr"/>
            <a:r>
              <a:rPr lang="en-IN" sz="2400" b="1" i="0" dirty="0">
                <a:latin typeface="Times New Roman" panose="02020603050405020304" pitchFamily="18" charset="0"/>
                <a:cs typeface="Times New Roman" panose="02020603050405020304" pitchFamily="18" charset="0"/>
              </a:rPr>
              <a:t>KIIT-DU, Bhubaneswar, India</a:t>
            </a:r>
          </a:p>
          <a:p>
            <a:pPr algn="ctr"/>
            <a:r>
              <a:rPr lang="en-IN" sz="2400" b="1" i="0" dirty="0">
                <a:solidFill>
                  <a:srgbClr val="FF0000"/>
                </a:solidFill>
                <a:latin typeface="Times New Roman" panose="02020603050405020304" pitchFamily="18" charset="0"/>
                <a:cs typeface="Times New Roman" panose="02020603050405020304" pitchFamily="18" charset="0"/>
              </a:rPr>
              <a:t>(</a:t>
            </a:r>
            <a:r>
              <a:rPr lang="en-US" altLang="en-IN" sz="2400" b="1" i="0" dirty="0">
                <a:solidFill>
                  <a:srgbClr val="FF0000"/>
                </a:solidFill>
                <a:latin typeface="Times New Roman" panose="02020603050405020304" pitchFamily="18" charset="0"/>
                <a:cs typeface="Times New Roman" panose="02020603050405020304" pitchFamily="18" charset="0"/>
              </a:rPr>
              <a:t>08</a:t>
            </a:r>
            <a:r>
              <a:rPr lang="en-IN" sz="2400" b="1" i="0" baseline="30000" dirty="0">
                <a:solidFill>
                  <a:srgbClr val="FF0000"/>
                </a:solidFill>
                <a:latin typeface="Times New Roman" panose="02020603050405020304" pitchFamily="18" charset="0"/>
                <a:cs typeface="Times New Roman" panose="02020603050405020304" pitchFamily="18" charset="0"/>
              </a:rPr>
              <a:t>th</a:t>
            </a:r>
            <a:r>
              <a:rPr lang="en-IN" sz="2400" b="1" i="0" dirty="0">
                <a:solidFill>
                  <a:srgbClr val="FF0000"/>
                </a:solidFill>
                <a:latin typeface="Times New Roman" panose="02020603050405020304" pitchFamily="18" charset="0"/>
                <a:cs typeface="Times New Roman" panose="02020603050405020304" pitchFamily="18" charset="0"/>
              </a:rPr>
              <a:t> - 1</a:t>
            </a:r>
            <a:r>
              <a:rPr lang="en-US" altLang="en-IN" sz="2400" b="1" i="0" dirty="0">
                <a:solidFill>
                  <a:srgbClr val="FF0000"/>
                </a:solidFill>
                <a:latin typeface="Times New Roman" panose="02020603050405020304" pitchFamily="18" charset="0"/>
                <a:cs typeface="Times New Roman" panose="02020603050405020304" pitchFamily="18" charset="0"/>
              </a:rPr>
              <a:t>0</a:t>
            </a:r>
            <a:r>
              <a:rPr lang="en-IN" sz="2400" b="1" i="0" baseline="30000" dirty="0">
                <a:solidFill>
                  <a:srgbClr val="FF0000"/>
                </a:solidFill>
                <a:latin typeface="Times New Roman" panose="02020603050405020304" pitchFamily="18" charset="0"/>
                <a:cs typeface="Times New Roman" panose="02020603050405020304" pitchFamily="18" charset="0"/>
              </a:rPr>
              <a:t>th</a:t>
            </a:r>
            <a:r>
              <a:rPr lang="en-IN" sz="2400" b="1" i="0" dirty="0">
                <a:solidFill>
                  <a:srgbClr val="FF0000"/>
                </a:solidFill>
                <a:latin typeface="Times New Roman" panose="02020603050405020304" pitchFamily="18" charset="0"/>
                <a:cs typeface="Times New Roman" panose="02020603050405020304" pitchFamily="18" charset="0"/>
              </a:rPr>
              <a:t> </a:t>
            </a:r>
            <a:r>
              <a:rPr lang="en-US" altLang="en-IN" sz="2400" b="1" i="0" dirty="0">
                <a:solidFill>
                  <a:srgbClr val="FF0000"/>
                </a:solidFill>
                <a:latin typeface="Times New Roman" panose="02020603050405020304" pitchFamily="18" charset="0"/>
                <a:cs typeface="Times New Roman" panose="02020603050405020304" pitchFamily="18" charset="0"/>
              </a:rPr>
              <a:t>August</a:t>
            </a:r>
            <a:r>
              <a:rPr lang="en-IN" sz="2400" b="1" i="0" dirty="0">
                <a:solidFill>
                  <a:srgbClr val="FF0000"/>
                </a:solidFill>
                <a:latin typeface="Times New Roman" panose="02020603050405020304" pitchFamily="18" charset="0"/>
                <a:cs typeface="Times New Roman" panose="02020603050405020304" pitchFamily="18" charset="0"/>
              </a:rPr>
              <a:t>, 202</a:t>
            </a:r>
            <a:r>
              <a:rPr lang="en-US" altLang="en-IN" sz="2400" b="1" i="0" dirty="0">
                <a:solidFill>
                  <a:srgbClr val="FF0000"/>
                </a:solidFill>
                <a:latin typeface="Times New Roman" panose="02020603050405020304" pitchFamily="18" charset="0"/>
                <a:cs typeface="Times New Roman" panose="02020603050405020304" pitchFamily="18" charset="0"/>
              </a:rPr>
              <a:t>6</a:t>
            </a:r>
            <a:r>
              <a:rPr lang="en-IN" sz="2400" b="1" i="0" dirty="0">
                <a:solidFill>
                  <a:srgbClr val="FF0000"/>
                </a:solidFill>
                <a:latin typeface="Times New Roman" panose="02020603050405020304" pitchFamily="18" charset="0"/>
                <a:cs typeface="Times New Roman" panose="02020603050405020304" pitchFamily="18" charset="0"/>
              </a:rPr>
              <a:t>)</a:t>
            </a:r>
          </a:p>
        </p:txBody>
      </p:sp>
      <p:pic>
        <p:nvPicPr>
          <p:cNvPr id="4" name="Picture 3"/>
          <p:cNvPicPr>
            <a:picLocks noChangeAspect="1"/>
          </p:cNvPicPr>
          <p:nvPr/>
        </p:nvPicPr>
        <p:blipFill>
          <a:blip r:embed="rId3"/>
          <a:stretch>
            <a:fillRect/>
          </a:stretch>
        </p:blipFill>
        <p:spPr>
          <a:xfrm>
            <a:off x="10981690" y="0"/>
            <a:ext cx="1210310" cy="965200"/>
          </a:xfrm>
          <a:prstGeom prst="rect">
            <a:avLst/>
          </a:prstGeom>
        </p:spPr>
      </p:pic>
      <p:pic>
        <p:nvPicPr>
          <p:cNvPr id="5" name="Picture 4"/>
          <p:cNvPicPr>
            <a:picLocks noChangeAspect="1"/>
          </p:cNvPicPr>
          <p:nvPr/>
        </p:nvPicPr>
        <p:blipFill>
          <a:blip r:embed="rId4"/>
          <a:stretch>
            <a:fillRect/>
          </a:stretch>
        </p:blipFill>
        <p:spPr>
          <a:xfrm>
            <a:off x="-5080" y="-8255"/>
            <a:ext cx="1515110" cy="955675"/>
          </a:xfrm>
          <a:prstGeom prst="rect">
            <a:avLst/>
          </a:prstGeom>
        </p:spPr>
      </p:pic>
      <p:sp>
        <p:nvSpPr>
          <p:cNvPr id="6" name="Date Placeholder 5">
            <a:extLst>
              <a:ext uri="{FF2B5EF4-FFF2-40B4-BE49-F238E27FC236}">
                <a16:creationId xmlns:a16="http://schemas.microsoft.com/office/drawing/2014/main" id="{B8D6DE65-3D83-3F85-8620-216D81DF883E}"/>
              </a:ext>
            </a:extLst>
          </p:cNvPr>
          <p:cNvSpPr>
            <a:spLocks noGrp="1"/>
          </p:cNvSpPr>
          <p:nvPr>
            <p:ph type="dt" sz="half" idx="10"/>
          </p:nvPr>
        </p:nvSpPr>
        <p:spPr/>
        <p:txBody>
          <a:bodyPr/>
          <a:lstStyle/>
          <a:p>
            <a:fld id="{5CE51897-1150-4063-A60E-D85F78067EC1}"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sp>
        <p:nvSpPr>
          <p:cNvPr id="10" name="TextBox 9">
            <a:extLst>
              <a:ext uri="{FF2B5EF4-FFF2-40B4-BE49-F238E27FC236}">
                <a16:creationId xmlns:a16="http://schemas.microsoft.com/office/drawing/2014/main" id="{35CE8E35-F18F-816B-58B0-715D054F4510}"/>
              </a:ext>
            </a:extLst>
          </p:cNvPr>
          <p:cNvSpPr txBox="1"/>
          <p:nvPr/>
        </p:nvSpPr>
        <p:spPr>
          <a:xfrm>
            <a:off x="752474" y="1984536"/>
            <a:ext cx="10601325" cy="3016210"/>
          </a:xfrm>
          <a:prstGeom prst="rect">
            <a:avLst/>
          </a:prstGeom>
          <a:noFill/>
        </p:spPr>
        <p:txBody>
          <a:bodyPr wrap="square" rtlCol="0">
            <a:spAutoFit/>
          </a:bodyPr>
          <a:lstStyle/>
          <a:p>
            <a:pPr algn="just"/>
            <a:r>
              <a:rPr lang="en-US" b="1" dirty="0"/>
              <a:t>Social Lacks (The Problem): </a:t>
            </a:r>
            <a:r>
              <a:rPr lang="en-US" dirty="0"/>
              <a:t>In India, accomplishing government paperwork is often confusing and stressful due to long form structures, technical languages, complicated procedures, specialized document requirements, unclear instructions, language barriers and low digital literacy, especially in rural areas. </a:t>
            </a:r>
          </a:p>
          <a:p>
            <a:pPr algn="just">
              <a:spcBef>
                <a:spcPts val="600"/>
              </a:spcBef>
            </a:pPr>
            <a:r>
              <a:rPr lang="en-US" b="1" dirty="0"/>
              <a:t>Technical Lacks:</a:t>
            </a:r>
            <a:r>
              <a:rPr lang="en-US" dirty="0"/>
              <a:t> With the evolution and integration of AI these procedures have simplified significantly, but many such frameworks are brittle, static, mostly unimodal and English-centric and suffer from data scarcity, which limits their adaptability and effective digitalization in the Indian demography. </a:t>
            </a:r>
          </a:p>
          <a:p>
            <a:pPr algn="just">
              <a:spcBef>
                <a:spcPts val="600"/>
              </a:spcBef>
            </a:pPr>
            <a:r>
              <a:rPr lang="en-US" b="1" dirty="0"/>
              <a:t>The Proposed Approach:</a:t>
            </a:r>
            <a:r>
              <a:rPr lang="en-US" dirty="0"/>
              <a:t> As a counter, this research proposes the Indic-Vision-ASR-NER AI (IVAN AI), a multilingual, multimodal, lightweight and low-data framework for digital form-automation.</a:t>
            </a:r>
          </a:p>
        </p:txBody>
      </p:sp>
      <p:sp>
        <p:nvSpPr>
          <p:cNvPr id="12" name="TextBox 11">
            <a:extLst>
              <a:ext uri="{FF2B5EF4-FFF2-40B4-BE49-F238E27FC236}">
                <a16:creationId xmlns:a16="http://schemas.microsoft.com/office/drawing/2014/main" id="{D8D0722B-7D50-FCA8-D17C-01B874B5F967}"/>
              </a:ext>
            </a:extLst>
          </p:cNvPr>
          <p:cNvSpPr txBox="1"/>
          <p:nvPr/>
        </p:nvSpPr>
        <p:spPr>
          <a:xfrm>
            <a:off x="1574882" y="5194369"/>
            <a:ext cx="9042235" cy="764312"/>
          </a:xfrm>
          <a:prstGeom prst="rect">
            <a:avLst/>
          </a:prstGeom>
          <a:noFill/>
          <a:ln w="19050">
            <a:solidFill>
              <a:schemeClr val="tx1">
                <a:lumMod val="75000"/>
                <a:lumOff val="25000"/>
              </a:schemeClr>
            </a:solidFill>
            <a:prstDash val="lgDash"/>
          </a:ln>
        </p:spPr>
        <p:txBody>
          <a:bodyPr wrap="square" rtlCol="0">
            <a:spAutoFit/>
          </a:bodyPr>
          <a:lstStyle/>
          <a:p>
            <a:pPr marL="90000" indent="-90000" algn="just">
              <a:lnSpc>
                <a:spcPct val="80000"/>
              </a:lnSpc>
              <a:spcBef>
                <a:spcPts val="1200"/>
              </a:spcBef>
              <a:spcAft>
                <a:spcPts val="200"/>
              </a:spcAft>
            </a:pPr>
            <a:r>
              <a:rPr lang="en-US" sz="2000" dirty="0"/>
              <a:t>Mode 1 (Document Ingestion): OCR ⟶ Machine Translation ⟶ NER</a:t>
            </a:r>
          </a:p>
          <a:p>
            <a:pPr marL="90000" indent="-90000" algn="just">
              <a:lnSpc>
                <a:spcPct val="80000"/>
              </a:lnSpc>
              <a:spcBef>
                <a:spcPts val="1200"/>
              </a:spcBef>
              <a:spcAft>
                <a:spcPts val="200"/>
              </a:spcAft>
            </a:pPr>
            <a:r>
              <a:rPr lang="en-US" sz="2000" dirty="0"/>
              <a:t>Mode 2 (Voice Ingestion): ASR ⟶ Machine Translation</a:t>
            </a:r>
          </a:p>
        </p:txBody>
      </p:sp>
      <p:sp>
        <p:nvSpPr>
          <p:cNvPr id="7" name="Date Placeholder 6">
            <a:extLst>
              <a:ext uri="{FF2B5EF4-FFF2-40B4-BE49-F238E27FC236}">
                <a16:creationId xmlns:a16="http://schemas.microsoft.com/office/drawing/2014/main" id="{5807560B-29BC-882D-407F-7E2F893B503F}"/>
              </a:ext>
            </a:extLst>
          </p:cNvPr>
          <p:cNvSpPr>
            <a:spLocks noGrp="1"/>
          </p:cNvSpPr>
          <p:nvPr>
            <p:ph type="dt" sz="half" idx="10"/>
          </p:nvPr>
        </p:nvSpPr>
        <p:spPr/>
        <p:txBody>
          <a:bodyPr/>
          <a:lstStyle/>
          <a:p>
            <a:fld id="{52EB041C-1ED3-4166-9A19-3DDFAAB26090}"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17860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graphicFrame>
        <p:nvGraphicFramePr>
          <p:cNvPr id="2" name="Content Placeholder 2">
            <a:extLst>
              <a:ext uri="{FF2B5EF4-FFF2-40B4-BE49-F238E27FC236}">
                <a16:creationId xmlns:a16="http://schemas.microsoft.com/office/drawing/2014/main" id="{270E88D4-D432-BF70-7CF8-ECED582FA98E}"/>
              </a:ext>
            </a:extLst>
          </p:cNvPr>
          <p:cNvGraphicFramePr>
            <a:graphicFrameLocks/>
          </p:cNvGraphicFramePr>
          <p:nvPr>
            <p:extLst>
              <p:ext uri="{D42A27DB-BD31-4B8C-83A1-F6EECF244321}">
                <p14:modId xmlns:p14="http://schemas.microsoft.com/office/powerpoint/2010/main" val="76920791"/>
              </p:ext>
            </p:extLst>
          </p:nvPr>
        </p:nvGraphicFramePr>
        <p:xfrm>
          <a:off x="585019" y="1875788"/>
          <a:ext cx="11021961" cy="3343621"/>
        </p:xfrm>
        <a:graphic>
          <a:graphicData uri="http://schemas.openxmlformats.org/drawingml/2006/table">
            <a:tbl>
              <a:tblPr firstRow="1" firstCol="1" bandRow="1">
                <a:tableStyleId>{5C22544A-7EE6-4342-B048-85BDC9FD1C3A}</a:tableStyleId>
              </a:tblPr>
              <a:tblGrid>
                <a:gridCol w="7438104">
                  <a:extLst>
                    <a:ext uri="{9D8B030D-6E8A-4147-A177-3AD203B41FA5}">
                      <a16:colId xmlns:a16="http://schemas.microsoft.com/office/drawing/2014/main" val="3338036768"/>
                    </a:ext>
                  </a:extLst>
                </a:gridCol>
                <a:gridCol w="2258125">
                  <a:extLst>
                    <a:ext uri="{9D8B030D-6E8A-4147-A177-3AD203B41FA5}">
                      <a16:colId xmlns:a16="http://schemas.microsoft.com/office/drawing/2014/main" val="686751421"/>
                    </a:ext>
                  </a:extLst>
                </a:gridCol>
                <a:gridCol w="1325732">
                  <a:extLst>
                    <a:ext uri="{9D8B030D-6E8A-4147-A177-3AD203B41FA5}">
                      <a16:colId xmlns:a16="http://schemas.microsoft.com/office/drawing/2014/main" val="67840432"/>
                    </a:ext>
                  </a:extLst>
                </a:gridCol>
              </a:tblGrid>
              <a:tr h="460288">
                <a:tc>
                  <a:txBody>
                    <a:bodyPr/>
                    <a:lstStyle/>
                    <a:p>
                      <a:pPr algn="ctr">
                        <a:buNone/>
                      </a:pPr>
                      <a:r>
                        <a:rPr lang="en-IN" sz="1500" dirty="0">
                          <a:solidFill>
                            <a:schemeClr val="tx1"/>
                          </a:solidFill>
                          <a:effectLst/>
                        </a:rPr>
                        <a:t>Proposed Research Objectives</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rPr>
                        <a:t>Achieved in Current Research</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rPr>
                        <a:t>Achieved by IVAN AI</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1174386"/>
                  </a:ext>
                </a:extLst>
              </a:tr>
              <a:tr h="259685">
                <a:tc>
                  <a:txBody>
                    <a:bodyPr/>
                    <a:lstStyle/>
                    <a:p>
                      <a:pPr marL="0" indent="0" algn="just">
                        <a:buFontTx/>
                        <a:buNone/>
                      </a:pPr>
                      <a:r>
                        <a:rPr lang="en-IN" sz="1500" b="0" dirty="0">
                          <a:solidFill>
                            <a:schemeClr val="tx1"/>
                          </a:solidFill>
                          <a:effectLst/>
                        </a:rPr>
                        <a:t>Multilingualism (22+ Indic Languages)</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500" dirty="0">
                          <a:solidFill>
                            <a:schemeClr val="tx1"/>
                          </a:solidFill>
                          <a:effectLst/>
                        </a:rPr>
                        <a:t>✗ [1], [3]–[8]</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7618556"/>
                  </a:ext>
                </a:extLst>
              </a:tr>
              <a:tr h="259685">
                <a:tc>
                  <a:txBody>
                    <a:bodyPr/>
                    <a:lstStyle/>
                    <a:p>
                      <a:pPr algn="just">
                        <a:buNone/>
                      </a:pPr>
                      <a:r>
                        <a:rPr lang="en-IN" sz="1500" b="0" dirty="0">
                          <a:solidFill>
                            <a:schemeClr val="tx1"/>
                          </a:solidFill>
                          <a:effectLst/>
                        </a:rPr>
                        <a:t>Multimodality (OCR &amp; ASR)</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[1]–[10]</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8833185"/>
                  </a:ext>
                </a:extLst>
              </a:tr>
              <a:tr h="259685">
                <a:tc>
                  <a:txBody>
                    <a:bodyPr/>
                    <a:lstStyle/>
                    <a:p>
                      <a:pPr algn="just">
                        <a:buNone/>
                      </a:pPr>
                      <a:r>
                        <a:rPr lang="en-IN" sz="1500" b="0" dirty="0">
                          <a:solidFill>
                            <a:schemeClr val="tx1"/>
                          </a:solidFill>
                          <a:effectLst/>
                        </a:rPr>
                        <a:t>Modularity (Distributed Glass-box Pipeline)</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[7]</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3055038"/>
                  </a:ext>
                </a:extLst>
              </a:tr>
              <a:tr h="259685">
                <a:tc>
                  <a:txBody>
                    <a:bodyPr/>
                    <a:lstStyle/>
                    <a:p>
                      <a:pPr algn="just">
                        <a:buNone/>
                      </a:pPr>
                      <a:r>
                        <a:rPr lang="en-IN" sz="1500" b="0" dirty="0">
                          <a:solidFill>
                            <a:schemeClr val="tx1"/>
                          </a:solidFill>
                          <a:effectLst/>
                        </a:rPr>
                        <a:t>Lightweight &amp; Edge-Ready (Low-Resource &amp; On-Premise Deployment)</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[6]–[10]</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345500"/>
                  </a:ext>
                </a:extLst>
              </a:tr>
              <a:tr h="270521">
                <a:tc>
                  <a:txBody>
                    <a:bodyPr/>
                    <a:lstStyle/>
                    <a:p>
                      <a:pPr algn="just">
                        <a:buNone/>
                      </a:pPr>
                      <a:r>
                        <a:rPr lang="en-IN" sz="1500" b="0" dirty="0">
                          <a:solidFill>
                            <a:schemeClr val="tx1"/>
                          </a:solidFill>
                          <a:effectLst/>
                        </a:rPr>
                        <a:t>Image-Space to English-Text-Space for Simplified Data Requirements (Domain Shift)</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[4]–[8], [10]</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806755"/>
                  </a:ext>
                </a:extLst>
              </a:tr>
              <a:tr h="259685">
                <a:tc>
                  <a:txBody>
                    <a:bodyPr/>
                    <a:lstStyle/>
                    <a:p>
                      <a:pPr algn="just">
                        <a:buNone/>
                      </a:pPr>
                      <a:r>
                        <a:rPr lang="en-IN" sz="1500" b="0" dirty="0">
                          <a:solidFill>
                            <a:schemeClr val="tx1"/>
                          </a:solidFill>
                          <a:effectLst/>
                        </a:rPr>
                        <a:t>Code-Mixing &amp; Uneven Document Texts Handled (Skewed Mixed Scripts)</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[3]–[5], [7]–[10] </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9442825"/>
                  </a:ext>
                </a:extLst>
              </a:tr>
              <a:tr h="259685">
                <a:tc>
                  <a:txBody>
                    <a:bodyPr/>
                    <a:lstStyle/>
                    <a:p>
                      <a:pPr algn="just">
                        <a:buNone/>
                      </a:pPr>
                      <a:r>
                        <a:rPr lang="en-IN" sz="1500" b="0" dirty="0">
                          <a:solidFill>
                            <a:schemeClr val="tx1"/>
                          </a:solidFill>
                          <a:effectLst/>
                        </a:rPr>
                        <a:t>Immunity to Changing Layouts (non-Layout centric)</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[3]–[5], [7]</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a:solidFill>
                            <a:schemeClr val="tx1"/>
                          </a:solidFill>
                          <a:effectLst/>
                        </a:rPr>
                        <a:t>✓</a:t>
                      </a:r>
                      <a:endParaRPr lang="en-IN" sz="150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778260"/>
                  </a:ext>
                </a:extLst>
              </a:tr>
              <a:tr h="259685">
                <a:tc>
                  <a:txBody>
                    <a:bodyPr/>
                    <a:lstStyle/>
                    <a:p>
                      <a:pPr algn="just">
                        <a:buNone/>
                      </a:pPr>
                      <a:r>
                        <a:rPr lang="en-IN" sz="1500" b="0" dirty="0">
                          <a:solidFill>
                            <a:schemeClr val="tx1"/>
                          </a:solidFill>
                          <a:effectLst/>
                        </a:rPr>
                        <a:t>Immunity to Noise &amp; Hallucination (OCR-ASR-Translator-NER)</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[1], [3]–[5], [7]</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2401858"/>
                  </a:ext>
                </a:extLst>
              </a:tr>
              <a:tr h="259685">
                <a:tc>
                  <a:txBody>
                    <a:bodyPr/>
                    <a:lstStyle/>
                    <a:p>
                      <a:pPr algn="just">
                        <a:buNone/>
                      </a:pPr>
                      <a:r>
                        <a:rPr lang="en-IN" sz="1500" b="0" dirty="0">
                          <a:solidFill>
                            <a:schemeClr val="tx1"/>
                          </a:solidFill>
                          <a:effectLst/>
                        </a:rPr>
                        <a:t>Cross-Document Generalization (9 Types)</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[3]–[5]</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6282905"/>
                  </a:ext>
                </a:extLst>
              </a:tr>
              <a:tr h="259685">
                <a:tc>
                  <a:txBody>
                    <a:bodyPr/>
                    <a:lstStyle/>
                    <a:p>
                      <a:pPr algn="just">
                        <a:buNone/>
                      </a:pPr>
                      <a:r>
                        <a:rPr lang="en-IN" sz="1500" b="0" dirty="0">
                          <a:solidFill>
                            <a:schemeClr val="tx1"/>
                          </a:solidFill>
                          <a:effectLst/>
                        </a:rPr>
                        <a:t>Comprehensive Benchmarking</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dirty="0">
                          <a:solidFill>
                            <a:schemeClr val="tx1"/>
                          </a:solidFill>
                          <a:effectLst/>
                        </a:rPr>
                        <a:t>✗ [6]</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6258156"/>
                  </a:ext>
                </a:extLst>
              </a:tr>
              <a:tr h="259685">
                <a:tc>
                  <a:txBody>
                    <a:bodyPr/>
                    <a:lstStyle/>
                    <a:p>
                      <a:pPr algn="just">
                        <a:buNone/>
                      </a:pPr>
                      <a:r>
                        <a:rPr lang="en-IN" sz="1500" b="0" dirty="0">
                          <a:solidFill>
                            <a:schemeClr val="tx1"/>
                          </a:solidFill>
                          <a:effectLst/>
                        </a:rPr>
                        <a:t>Wide-scale Adaptability and Accessibility</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500" dirty="0">
                          <a:solidFill>
                            <a:schemeClr val="tx1"/>
                          </a:solidFill>
                          <a:effectLst/>
                        </a:rPr>
                        <a:t>✗ [1]–[5], [8]–[10]</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rPr>
                        <a:t>✓</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562055"/>
                  </a:ext>
                </a:extLst>
              </a:tr>
            </a:tbl>
          </a:graphicData>
        </a:graphic>
      </p:graphicFrame>
      <p:sp>
        <p:nvSpPr>
          <p:cNvPr id="9" name="TextBox 8">
            <a:extLst>
              <a:ext uri="{FF2B5EF4-FFF2-40B4-BE49-F238E27FC236}">
                <a16:creationId xmlns:a16="http://schemas.microsoft.com/office/drawing/2014/main" id="{12F86A2C-C203-298C-C6B7-957E04EEC27E}"/>
              </a:ext>
            </a:extLst>
          </p:cNvPr>
          <p:cNvSpPr txBox="1"/>
          <p:nvPr/>
        </p:nvSpPr>
        <p:spPr>
          <a:xfrm>
            <a:off x="752474" y="5565141"/>
            <a:ext cx="10679983" cy="646331"/>
          </a:xfrm>
          <a:prstGeom prst="rect">
            <a:avLst/>
          </a:prstGeom>
          <a:noFill/>
        </p:spPr>
        <p:txBody>
          <a:bodyPr wrap="square">
            <a:spAutoFit/>
          </a:bodyPr>
          <a:lstStyle/>
          <a:p>
            <a:pPr algn="just"/>
            <a:r>
              <a:rPr lang="en-US" dirty="0"/>
              <a:t>All these implemented novelties in the robust IVAN AI framework efficiently mitigates the highlighted social and technical drawbacks, signifying the importance of this research work.</a:t>
            </a:r>
          </a:p>
        </p:txBody>
      </p:sp>
      <p:sp>
        <p:nvSpPr>
          <p:cNvPr id="10" name="Content Placeholder 9">
            <a:extLst>
              <a:ext uri="{FF2B5EF4-FFF2-40B4-BE49-F238E27FC236}">
                <a16:creationId xmlns:a16="http://schemas.microsoft.com/office/drawing/2014/main" id="{9FC0DC52-8249-0B68-EEB5-FF9BE5F4762E}"/>
              </a:ext>
            </a:extLst>
          </p:cNvPr>
          <p:cNvSpPr txBox="1">
            <a:spLocks/>
          </p:cNvSpPr>
          <p:nvPr/>
        </p:nvSpPr>
        <p:spPr>
          <a:xfrm>
            <a:off x="2520130" y="5279930"/>
            <a:ext cx="7144669" cy="300341"/>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500" b="1" dirty="0">
                <a:solidFill>
                  <a:schemeClr val="tx1"/>
                </a:solidFill>
              </a:rPr>
              <a:t>Table 1: Comparative Analysis and Research Objectives</a:t>
            </a:r>
          </a:p>
        </p:txBody>
      </p:sp>
      <p:sp>
        <p:nvSpPr>
          <p:cNvPr id="11" name="Date Placeholder 10">
            <a:extLst>
              <a:ext uri="{FF2B5EF4-FFF2-40B4-BE49-F238E27FC236}">
                <a16:creationId xmlns:a16="http://schemas.microsoft.com/office/drawing/2014/main" id="{5AA70535-0808-0420-A3E8-05F598052257}"/>
              </a:ext>
            </a:extLst>
          </p:cNvPr>
          <p:cNvSpPr>
            <a:spLocks noGrp="1"/>
          </p:cNvSpPr>
          <p:nvPr>
            <p:ph type="dt" sz="half" idx="10"/>
          </p:nvPr>
        </p:nvSpPr>
        <p:spPr/>
        <p:txBody>
          <a:bodyPr/>
          <a:lstStyle/>
          <a:p>
            <a:fld id="{DD41C053-E4C1-4A7E-BAD7-A86B1F061402}"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sp>
        <p:nvSpPr>
          <p:cNvPr id="7" name="TextBox 6">
            <a:extLst>
              <a:ext uri="{FF2B5EF4-FFF2-40B4-BE49-F238E27FC236}">
                <a16:creationId xmlns:a16="http://schemas.microsoft.com/office/drawing/2014/main" id="{9823D61F-0F08-95C3-EF80-A16D3151DAFF}"/>
              </a:ext>
            </a:extLst>
          </p:cNvPr>
          <p:cNvSpPr txBox="1"/>
          <p:nvPr/>
        </p:nvSpPr>
        <p:spPr>
          <a:xfrm>
            <a:off x="752474" y="1984536"/>
            <a:ext cx="10601325" cy="2544286"/>
          </a:xfrm>
          <a:prstGeom prst="rect">
            <a:avLst/>
          </a:prstGeom>
          <a:noFill/>
        </p:spPr>
        <p:txBody>
          <a:bodyPr wrap="square" rtlCol="0">
            <a:spAutoFit/>
          </a:bodyPr>
          <a:lstStyle/>
          <a:p>
            <a:pPr algn="just"/>
            <a:r>
              <a:rPr lang="en-US" dirty="0"/>
              <a:t>Recent research activities have significantly focused on,</a:t>
            </a:r>
            <a:endParaRPr lang="en-US" b="1" dirty="0"/>
          </a:p>
          <a:p>
            <a:pPr marL="285750" indent="-285750" algn="just">
              <a:spcBef>
                <a:spcPts val="800"/>
              </a:spcBef>
              <a:buFont typeface="Wingdings" panose="05000000000000000000" pitchFamily="2" charset="2"/>
              <a:buChar char="q"/>
            </a:pPr>
            <a:r>
              <a:rPr lang="en-US" dirty="0"/>
              <a:t>Accessibility focused voice processing via advanced ASR, for aged and monolingual people [1], [2]. </a:t>
            </a:r>
          </a:p>
          <a:p>
            <a:pPr marL="285750" indent="-285750" algn="just">
              <a:spcBef>
                <a:spcPts val="800"/>
              </a:spcBef>
              <a:buFont typeface="Wingdings" panose="05000000000000000000" pitchFamily="2" charset="2"/>
              <a:buChar char="q"/>
            </a:pPr>
            <a:r>
              <a:rPr lang="en-US" dirty="0"/>
              <a:t>Multimodal approaches for voice and document processing, but lacks cohesive pipeline integration.</a:t>
            </a:r>
          </a:p>
          <a:p>
            <a:pPr marL="285750" indent="-285750" algn="just">
              <a:spcBef>
                <a:spcPts val="800"/>
              </a:spcBef>
              <a:buFont typeface="Wingdings" panose="05000000000000000000" pitchFamily="2" charset="2"/>
              <a:buChar char="q"/>
            </a:pPr>
            <a:r>
              <a:rPr lang="en-US" dirty="0"/>
              <a:t>Traditional OCR and Regex based information extraction, with DL based image processing [3]–[6]. </a:t>
            </a:r>
          </a:p>
          <a:p>
            <a:pPr marL="285750" indent="-285750" algn="just">
              <a:spcBef>
                <a:spcPts val="800"/>
              </a:spcBef>
              <a:buFont typeface="Wingdings" panose="05000000000000000000" pitchFamily="2" charset="2"/>
              <a:buChar char="q"/>
            </a:pPr>
            <a:r>
              <a:rPr lang="en-US" dirty="0"/>
              <a:t>VLMs, GCN and Generative Information Extraction for document structure and semantic analysis for direct information extraction from </a:t>
            </a:r>
            <a:r>
              <a:rPr lang="en-IN" dirty="0"/>
              <a:t>images </a:t>
            </a:r>
            <a:r>
              <a:rPr lang="en-US" dirty="0"/>
              <a:t>[7], [8].</a:t>
            </a:r>
          </a:p>
          <a:p>
            <a:pPr marL="285750" indent="-285750" algn="just">
              <a:spcBef>
                <a:spcPts val="800"/>
              </a:spcBef>
              <a:buFont typeface="Wingdings" panose="05000000000000000000" pitchFamily="2" charset="2"/>
              <a:buChar char="q"/>
            </a:pPr>
            <a:r>
              <a:rPr lang="en-US" dirty="0"/>
              <a:t>Cloud APIs, Agents like AWS </a:t>
            </a:r>
            <a:r>
              <a:rPr lang="en-US" dirty="0" err="1"/>
              <a:t>Textract</a:t>
            </a:r>
            <a:r>
              <a:rPr lang="en-US" dirty="0"/>
              <a:t>, GPT-4, etc., and BBN based form-entity mapping [9], [10].</a:t>
            </a:r>
          </a:p>
        </p:txBody>
      </p:sp>
      <p:sp>
        <p:nvSpPr>
          <p:cNvPr id="9" name="Date Placeholder 8">
            <a:extLst>
              <a:ext uri="{FF2B5EF4-FFF2-40B4-BE49-F238E27FC236}">
                <a16:creationId xmlns:a16="http://schemas.microsoft.com/office/drawing/2014/main" id="{DEFF8D97-E97B-A055-6218-B06016CBA2A5}"/>
              </a:ext>
            </a:extLst>
          </p:cNvPr>
          <p:cNvSpPr>
            <a:spLocks noGrp="1"/>
          </p:cNvSpPr>
          <p:nvPr>
            <p:ph type="dt" sz="half" idx="10"/>
          </p:nvPr>
        </p:nvSpPr>
        <p:spPr/>
        <p:txBody>
          <a:bodyPr/>
          <a:lstStyle/>
          <a:p>
            <a:fld id="{86D65993-4B51-4EC0-B6F9-420C9604C1A7}"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sp>
        <p:nvSpPr>
          <p:cNvPr id="7" name="TextBox 6">
            <a:extLst>
              <a:ext uri="{FF2B5EF4-FFF2-40B4-BE49-F238E27FC236}">
                <a16:creationId xmlns:a16="http://schemas.microsoft.com/office/drawing/2014/main" id="{8C6FC0CE-28A7-33E6-D9CB-FB183603741C}"/>
              </a:ext>
            </a:extLst>
          </p:cNvPr>
          <p:cNvSpPr txBox="1"/>
          <p:nvPr/>
        </p:nvSpPr>
        <p:spPr>
          <a:xfrm>
            <a:off x="752474" y="1984536"/>
            <a:ext cx="10601325" cy="1831271"/>
          </a:xfrm>
          <a:prstGeom prst="rect">
            <a:avLst/>
          </a:prstGeom>
          <a:noFill/>
        </p:spPr>
        <p:txBody>
          <a:bodyPr wrap="square" rtlCol="0">
            <a:spAutoFit/>
          </a:bodyPr>
          <a:lstStyle/>
          <a:p>
            <a:pPr algn="just"/>
            <a:r>
              <a:rPr lang="en-US" dirty="0"/>
              <a:t>Accomplishing government paperwork in India is often stressful and laborious because of long structures, technical languages, complicated procedures, unclear instructions, language barriers and low digital literacy, especially in rural areas. Although digital automation using AI tools can simplify this, many current solutions are layout-centric and brittle, hard to improve, mostly Image or English centric and suffer from training data scarcity, thus limiting their usefulness in Indian demography. </a:t>
            </a:r>
          </a:p>
          <a:p>
            <a:pPr algn="just">
              <a:spcBef>
                <a:spcPts val="600"/>
              </a:spcBef>
            </a:pPr>
            <a:r>
              <a:rPr lang="en-US" b="1" dirty="0"/>
              <a:t>Why Governmental Form Automation, Problems and the overall Scenario:</a:t>
            </a:r>
          </a:p>
        </p:txBody>
      </p:sp>
      <p:grpSp>
        <p:nvGrpSpPr>
          <p:cNvPr id="9" name="Group 8">
            <a:extLst>
              <a:ext uri="{FF2B5EF4-FFF2-40B4-BE49-F238E27FC236}">
                <a16:creationId xmlns:a16="http://schemas.microsoft.com/office/drawing/2014/main" id="{B023916C-35E4-3BE8-D1D3-C2D8B2D59CFB}"/>
              </a:ext>
            </a:extLst>
          </p:cNvPr>
          <p:cNvGrpSpPr/>
          <p:nvPr/>
        </p:nvGrpSpPr>
        <p:grpSpPr>
          <a:xfrm>
            <a:off x="749431" y="3910747"/>
            <a:ext cx="10693137" cy="2199996"/>
            <a:chOff x="1097280" y="2345306"/>
            <a:chExt cx="10157835" cy="1654853"/>
          </a:xfrm>
        </p:grpSpPr>
        <p:sp>
          <p:nvSpPr>
            <p:cNvPr id="10" name="TextBox 9">
              <a:extLst>
                <a:ext uri="{FF2B5EF4-FFF2-40B4-BE49-F238E27FC236}">
                  <a16:creationId xmlns:a16="http://schemas.microsoft.com/office/drawing/2014/main" id="{4F1BFE51-56D3-BF6C-5D71-8187B66E8CFE}"/>
                </a:ext>
              </a:extLst>
            </p:cNvPr>
            <p:cNvSpPr txBox="1"/>
            <p:nvPr/>
          </p:nvSpPr>
          <p:spPr>
            <a:xfrm>
              <a:off x="1596967" y="2401551"/>
              <a:ext cx="2408905" cy="399575"/>
            </a:xfrm>
            <a:prstGeom prst="rect">
              <a:avLst/>
            </a:prstGeom>
            <a:noFill/>
          </p:spPr>
          <p:txBody>
            <a:bodyPr wrap="square" rtlCol="0">
              <a:spAutoFit/>
            </a:bodyPr>
            <a:lstStyle/>
            <a:p>
              <a:r>
                <a:rPr lang="en-IN" sz="1500" dirty="0">
                  <a:solidFill>
                    <a:schemeClr val="tx1">
                      <a:lumMod val="75000"/>
                      <a:lumOff val="25000"/>
                    </a:schemeClr>
                  </a:solidFill>
                </a:rPr>
                <a:t>Complex form-filling process</a:t>
              </a:r>
            </a:p>
          </p:txBody>
        </p:sp>
        <p:sp>
          <p:nvSpPr>
            <p:cNvPr id="11" name="TextBox 10">
              <a:extLst>
                <a:ext uri="{FF2B5EF4-FFF2-40B4-BE49-F238E27FC236}">
                  <a16:creationId xmlns:a16="http://schemas.microsoft.com/office/drawing/2014/main" id="{98D20088-828D-0814-5CD1-169102F508BF}"/>
                </a:ext>
              </a:extLst>
            </p:cNvPr>
            <p:cNvSpPr txBox="1"/>
            <p:nvPr/>
          </p:nvSpPr>
          <p:spPr>
            <a:xfrm>
              <a:off x="4800910" y="2422515"/>
              <a:ext cx="3146324" cy="399575"/>
            </a:xfrm>
            <a:prstGeom prst="rect">
              <a:avLst/>
            </a:prstGeom>
            <a:noFill/>
          </p:spPr>
          <p:txBody>
            <a:bodyPr wrap="square" rtlCol="0">
              <a:spAutoFit/>
            </a:bodyPr>
            <a:lstStyle/>
            <a:p>
              <a:r>
                <a:rPr lang="en-US" sz="1500" dirty="0">
                  <a:solidFill>
                    <a:schemeClr val="tx1">
                      <a:lumMod val="75000"/>
                      <a:lumOff val="25000"/>
                    </a:schemeClr>
                  </a:solidFill>
                </a:rPr>
                <a:t>Incomplete Forms and Manual Errors</a:t>
              </a:r>
              <a:endParaRPr lang="en-IN" sz="1500" dirty="0">
                <a:solidFill>
                  <a:schemeClr val="tx1">
                    <a:lumMod val="75000"/>
                    <a:lumOff val="25000"/>
                  </a:schemeClr>
                </a:solidFill>
              </a:endParaRPr>
            </a:p>
          </p:txBody>
        </p:sp>
        <p:sp>
          <p:nvSpPr>
            <p:cNvPr id="12" name="TextBox 11">
              <a:extLst>
                <a:ext uri="{FF2B5EF4-FFF2-40B4-BE49-F238E27FC236}">
                  <a16:creationId xmlns:a16="http://schemas.microsoft.com/office/drawing/2014/main" id="{300E8564-53BE-3BE7-9500-642523AAE65F}"/>
                </a:ext>
              </a:extLst>
            </p:cNvPr>
            <p:cNvSpPr txBox="1"/>
            <p:nvPr/>
          </p:nvSpPr>
          <p:spPr>
            <a:xfrm>
              <a:off x="8585816" y="2403788"/>
              <a:ext cx="1834299" cy="233085"/>
            </a:xfrm>
            <a:prstGeom prst="rect">
              <a:avLst/>
            </a:prstGeom>
            <a:noFill/>
          </p:spPr>
          <p:txBody>
            <a:bodyPr wrap="square" rtlCol="0">
              <a:spAutoFit/>
            </a:bodyPr>
            <a:lstStyle/>
            <a:p>
              <a:r>
                <a:rPr lang="en-IN" sz="1500" dirty="0">
                  <a:solidFill>
                    <a:schemeClr val="tx1">
                      <a:lumMod val="75000"/>
                      <a:lumOff val="25000"/>
                    </a:schemeClr>
                  </a:solidFill>
                </a:rPr>
                <a:t>Multimodality Issues</a:t>
              </a:r>
            </a:p>
          </p:txBody>
        </p:sp>
        <p:sp>
          <p:nvSpPr>
            <p:cNvPr id="13" name="TextBox 12">
              <a:extLst>
                <a:ext uri="{FF2B5EF4-FFF2-40B4-BE49-F238E27FC236}">
                  <a16:creationId xmlns:a16="http://schemas.microsoft.com/office/drawing/2014/main" id="{B7E848AE-FD5C-CEEC-372D-3F5F65DA1483}"/>
                </a:ext>
              </a:extLst>
            </p:cNvPr>
            <p:cNvSpPr txBox="1"/>
            <p:nvPr/>
          </p:nvSpPr>
          <p:spPr>
            <a:xfrm>
              <a:off x="1596966" y="2843909"/>
              <a:ext cx="2229643" cy="399575"/>
            </a:xfrm>
            <a:prstGeom prst="rect">
              <a:avLst/>
            </a:prstGeom>
            <a:noFill/>
          </p:spPr>
          <p:txBody>
            <a:bodyPr wrap="square" rtlCol="0">
              <a:spAutoFit/>
            </a:bodyPr>
            <a:lstStyle/>
            <a:p>
              <a:r>
                <a:rPr lang="en-IN" sz="1500" dirty="0">
                  <a:solidFill>
                    <a:schemeClr val="tx1">
                      <a:lumMod val="75000"/>
                      <a:lumOff val="25000"/>
                    </a:schemeClr>
                  </a:solidFill>
                </a:rPr>
                <a:t>Confined Languages (English/Hindi)</a:t>
              </a:r>
            </a:p>
          </p:txBody>
        </p:sp>
        <p:sp>
          <p:nvSpPr>
            <p:cNvPr id="17" name="TextBox 16">
              <a:extLst>
                <a:ext uri="{FF2B5EF4-FFF2-40B4-BE49-F238E27FC236}">
                  <a16:creationId xmlns:a16="http://schemas.microsoft.com/office/drawing/2014/main" id="{35428B3E-C86E-29CD-D522-CB4C4A21DBA0}"/>
                </a:ext>
              </a:extLst>
            </p:cNvPr>
            <p:cNvSpPr txBox="1"/>
            <p:nvPr/>
          </p:nvSpPr>
          <p:spPr>
            <a:xfrm>
              <a:off x="4805832" y="2826736"/>
              <a:ext cx="2684207" cy="399575"/>
            </a:xfrm>
            <a:prstGeom prst="rect">
              <a:avLst/>
            </a:prstGeom>
            <a:noFill/>
          </p:spPr>
          <p:txBody>
            <a:bodyPr wrap="square" rtlCol="0">
              <a:spAutoFit/>
            </a:bodyPr>
            <a:lstStyle/>
            <a:p>
              <a:r>
                <a:rPr lang="en-US" sz="1500" dirty="0">
                  <a:solidFill>
                    <a:schemeClr val="tx1">
                      <a:lumMod val="75000"/>
                      <a:lumOff val="25000"/>
                    </a:schemeClr>
                  </a:solidFill>
                </a:rPr>
                <a:t>Not Light Weight and lacks Edge Readiness</a:t>
              </a:r>
              <a:endParaRPr lang="en-IN" sz="1500" dirty="0">
                <a:solidFill>
                  <a:schemeClr val="tx1">
                    <a:lumMod val="75000"/>
                    <a:lumOff val="25000"/>
                  </a:schemeClr>
                </a:solidFill>
              </a:endParaRPr>
            </a:p>
          </p:txBody>
        </p:sp>
        <p:sp>
          <p:nvSpPr>
            <p:cNvPr id="18" name="TextBox 17">
              <a:extLst>
                <a:ext uri="{FF2B5EF4-FFF2-40B4-BE49-F238E27FC236}">
                  <a16:creationId xmlns:a16="http://schemas.microsoft.com/office/drawing/2014/main" id="{DDBC8AC2-9E44-0418-AA0D-107FC9FEA8E8}"/>
                </a:ext>
              </a:extLst>
            </p:cNvPr>
            <p:cNvSpPr txBox="1"/>
            <p:nvPr/>
          </p:nvSpPr>
          <p:spPr>
            <a:xfrm>
              <a:off x="8585816" y="2786526"/>
              <a:ext cx="2592009" cy="566064"/>
            </a:xfrm>
            <a:prstGeom prst="rect">
              <a:avLst/>
            </a:prstGeom>
            <a:noFill/>
          </p:spPr>
          <p:txBody>
            <a:bodyPr wrap="square" rtlCol="0">
              <a:spAutoFit/>
            </a:bodyPr>
            <a:lstStyle/>
            <a:p>
              <a:r>
                <a:rPr lang="en-US" sz="1500" dirty="0">
                  <a:solidFill>
                    <a:schemeClr val="tx1">
                      <a:lumMod val="75000"/>
                      <a:lumOff val="25000"/>
                    </a:schemeClr>
                  </a:solidFill>
                </a:rPr>
                <a:t>Inaccessible to diverse groups (aged/rural/illiterate/disabled)</a:t>
              </a:r>
              <a:endParaRPr lang="en-IN" sz="1500" dirty="0">
                <a:solidFill>
                  <a:schemeClr val="tx1">
                    <a:lumMod val="75000"/>
                    <a:lumOff val="25000"/>
                  </a:schemeClr>
                </a:solidFill>
              </a:endParaRPr>
            </a:p>
          </p:txBody>
        </p:sp>
        <p:sp>
          <p:nvSpPr>
            <p:cNvPr id="19" name="TextBox 18">
              <a:extLst>
                <a:ext uri="{FF2B5EF4-FFF2-40B4-BE49-F238E27FC236}">
                  <a16:creationId xmlns:a16="http://schemas.microsoft.com/office/drawing/2014/main" id="{3A2F5E2F-E151-15C4-2EC8-59EC71F41216}"/>
                </a:ext>
              </a:extLst>
            </p:cNvPr>
            <p:cNvSpPr txBox="1"/>
            <p:nvPr/>
          </p:nvSpPr>
          <p:spPr>
            <a:xfrm>
              <a:off x="1596966" y="3434095"/>
              <a:ext cx="2099187" cy="566064"/>
            </a:xfrm>
            <a:prstGeom prst="rect">
              <a:avLst/>
            </a:prstGeom>
            <a:noFill/>
          </p:spPr>
          <p:txBody>
            <a:bodyPr wrap="square" rtlCol="0">
              <a:spAutoFit/>
            </a:bodyPr>
            <a:lstStyle/>
            <a:p>
              <a:r>
                <a:rPr lang="en-IN" sz="1500" dirty="0">
                  <a:solidFill>
                    <a:schemeClr val="tx1">
                      <a:lumMod val="75000"/>
                      <a:lumOff val="25000"/>
                    </a:schemeClr>
                  </a:solidFill>
                </a:rPr>
                <a:t>High Data Requirements (Image/Indic)</a:t>
              </a:r>
            </a:p>
          </p:txBody>
        </p:sp>
        <p:sp>
          <p:nvSpPr>
            <p:cNvPr id="20" name="TextBox 19">
              <a:extLst>
                <a:ext uri="{FF2B5EF4-FFF2-40B4-BE49-F238E27FC236}">
                  <a16:creationId xmlns:a16="http://schemas.microsoft.com/office/drawing/2014/main" id="{E39DE4E1-4A4E-266A-8C49-7E0033C565BF}"/>
                </a:ext>
              </a:extLst>
            </p:cNvPr>
            <p:cNvSpPr txBox="1"/>
            <p:nvPr/>
          </p:nvSpPr>
          <p:spPr>
            <a:xfrm>
              <a:off x="4805832" y="3434584"/>
              <a:ext cx="2684207" cy="399575"/>
            </a:xfrm>
            <a:prstGeom prst="rect">
              <a:avLst/>
            </a:prstGeom>
            <a:noFill/>
          </p:spPr>
          <p:txBody>
            <a:bodyPr wrap="square" rtlCol="0">
              <a:spAutoFit/>
            </a:bodyPr>
            <a:lstStyle/>
            <a:p>
              <a:r>
                <a:rPr lang="en-US" sz="1500" dirty="0">
                  <a:solidFill>
                    <a:schemeClr val="tx1">
                      <a:lumMod val="75000"/>
                      <a:lumOff val="25000"/>
                    </a:schemeClr>
                  </a:solidFill>
                </a:rPr>
                <a:t>Lacks Diversity, Adaptability and Resilience</a:t>
              </a:r>
              <a:endParaRPr lang="en-IN" sz="1500" dirty="0">
                <a:solidFill>
                  <a:schemeClr val="tx1">
                    <a:lumMod val="75000"/>
                    <a:lumOff val="25000"/>
                  </a:schemeClr>
                </a:solidFill>
              </a:endParaRPr>
            </a:p>
          </p:txBody>
        </p:sp>
        <p:sp>
          <p:nvSpPr>
            <p:cNvPr id="21" name="TextBox 20">
              <a:extLst>
                <a:ext uri="{FF2B5EF4-FFF2-40B4-BE49-F238E27FC236}">
                  <a16:creationId xmlns:a16="http://schemas.microsoft.com/office/drawing/2014/main" id="{201DD6BF-FC64-39D4-CB65-6611DD753A87}"/>
                </a:ext>
              </a:extLst>
            </p:cNvPr>
            <p:cNvSpPr txBox="1"/>
            <p:nvPr/>
          </p:nvSpPr>
          <p:spPr>
            <a:xfrm>
              <a:off x="8585816" y="3428988"/>
              <a:ext cx="2669299" cy="399575"/>
            </a:xfrm>
            <a:prstGeom prst="rect">
              <a:avLst/>
            </a:prstGeom>
            <a:noFill/>
          </p:spPr>
          <p:txBody>
            <a:bodyPr wrap="square" rtlCol="0">
              <a:spAutoFit/>
            </a:bodyPr>
            <a:lstStyle/>
            <a:p>
              <a:r>
                <a:rPr lang="en-US" sz="1500" dirty="0">
                  <a:solidFill>
                    <a:schemeClr val="tx1">
                      <a:lumMod val="75000"/>
                      <a:lumOff val="25000"/>
                    </a:schemeClr>
                  </a:solidFill>
                </a:rPr>
                <a:t>Unsuccessful attempts to Digital Governance</a:t>
              </a:r>
              <a:endParaRPr lang="en-IN" sz="1500" dirty="0">
                <a:solidFill>
                  <a:schemeClr val="tx1">
                    <a:lumMod val="75000"/>
                    <a:lumOff val="25000"/>
                  </a:schemeClr>
                </a:solidFill>
              </a:endParaRPr>
            </a:p>
          </p:txBody>
        </p:sp>
        <p:grpSp>
          <p:nvGrpSpPr>
            <p:cNvPr id="22" name="Group 21">
              <a:extLst>
                <a:ext uri="{FF2B5EF4-FFF2-40B4-BE49-F238E27FC236}">
                  <a16:creationId xmlns:a16="http://schemas.microsoft.com/office/drawing/2014/main" id="{46F3CD26-FA1A-2384-9ADA-4ECB7EA002D7}"/>
                </a:ext>
              </a:extLst>
            </p:cNvPr>
            <p:cNvGrpSpPr/>
            <p:nvPr/>
          </p:nvGrpSpPr>
          <p:grpSpPr>
            <a:xfrm>
              <a:off x="8047408" y="3468346"/>
              <a:ext cx="435361" cy="450146"/>
              <a:chOff x="7714932" y="3708101"/>
              <a:chExt cx="435361" cy="450146"/>
            </a:xfrm>
          </p:grpSpPr>
          <p:pic>
            <p:nvPicPr>
              <p:cNvPr id="36" name="Picture 2" descr="4,849 E Governance Icon Royalty-Free Images, Stock Photos &amp; Pictures |  Shutterstock">
                <a:extLst>
                  <a:ext uri="{FF2B5EF4-FFF2-40B4-BE49-F238E27FC236}">
                    <a16:creationId xmlns:a16="http://schemas.microsoft.com/office/drawing/2014/main" id="{B7480D12-0C3F-586D-CB10-C6B19FA063ED}"/>
                  </a:ext>
                </a:extLst>
              </p:cNvPr>
              <p:cNvPicPr>
                <a:picLocks noChangeAspect="1" noChangeArrowheads="1"/>
              </p:cNvPicPr>
              <p:nvPr/>
            </p:nvPicPr>
            <p:blipFill rotWithShape="1">
              <a:blip r:embed="rId5" cstate="print">
                <a:alphaModFix/>
                <a:extLst>
                  <a:ext uri="{28A0092B-C50C-407E-A947-70E740481C1C}">
                    <a14:useLocalDpi xmlns:a14="http://schemas.microsoft.com/office/drawing/2010/main" val="0"/>
                  </a:ext>
                </a:extLst>
              </a:blip>
              <a:srcRect l="32252" t="13131" r="36962" b="14231"/>
              <a:stretch>
                <a:fillRect/>
              </a:stretch>
            </p:blipFill>
            <p:spPr bwMode="auto">
              <a:xfrm>
                <a:off x="7714932" y="3708101"/>
                <a:ext cx="435361" cy="450146"/>
              </a:xfrm>
              <a:prstGeom prst="ellipse">
                <a:avLst/>
              </a:prstGeom>
              <a:ln w="28575">
                <a:solidFill>
                  <a:srgbClr val="FF0000"/>
                </a:solidFill>
              </a:ln>
              <a:effectLst>
                <a:softEdge rad="112500"/>
              </a:effectLst>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cxnSp>
            <p:nvCxnSpPr>
              <p:cNvPr id="37" name="Straight Connector 36">
                <a:extLst>
                  <a:ext uri="{FF2B5EF4-FFF2-40B4-BE49-F238E27FC236}">
                    <a16:creationId xmlns:a16="http://schemas.microsoft.com/office/drawing/2014/main" id="{C6CC2501-8AFC-4179-A76E-D4DBD1066F24}"/>
                  </a:ext>
                </a:extLst>
              </p:cNvPr>
              <p:cNvCxnSpPr>
                <a:cxnSpLocks/>
                <a:stCxn id="36" idx="5"/>
                <a:endCxn id="36" idx="1"/>
              </p:cNvCxnSpPr>
              <p:nvPr/>
            </p:nvCxnSpPr>
            <p:spPr>
              <a:xfrm flipH="1" flipV="1">
                <a:off x="7778689" y="3774023"/>
                <a:ext cx="307847" cy="3183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23" name="Picture 6" descr="An Image Of A Complex Symbol Vector, A Simplistic Black Icon Of Networking  On A White Background, No Shadows, Small Centered In Frame PNG and Vector  with Transparent Background for Free Download">
              <a:extLst>
                <a:ext uri="{FF2B5EF4-FFF2-40B4-BE49-F238E27FC236}">
                  <a16:creationId xmlns:a16="http://schemas.microsoft.com/office/drawing/2014/main" id="{3E35C702-3465-1BFF-AD6A-39A6602C23B1}"/>
                </a:ext>
              </a:extLst>
            </p:cNvPr>
            <p:cNvPicPr>
              <a:picLocks noChangeAspect="1" noChangeArrowheads="1"/>
            </p:cNvPicPr>
            <p:nvPr/>
          </p:nvPicPr>
          <p:blipFill rotWithShape="1">
            <a:blip r:embed="rId6" cstate="print">
              <a:alphaModFix/>
              <a:extLst>
                <a:ext uri="{28A0092B-C50C-407E-A947-70E740481C1C}">
                  <a14:useLocalDpi xmlns:a14="http://schemas.microsoft.com/office/drawing/2010/main" val="0"/>
                </a:ext>
              </a:extLst>
            </a:blip>
            <a:srcRect l="9856" t="12519" r="9856" b="12519"/>
            <a:stretch>
              <a:fillRect/>
            </a:stretch>
          </p:blipFill>
          <p:spPr bwMode="auto">
            <a:xfrm>
              <a:off x="1128949" y="2375184"/>
              <a:ext cx="410214" cy="383006"/>
            </a:xfrm>
            <a:prstGeom prst="rect">
              <a:avLst/>
            </a:prstGeom>
            <a:noFill/>
            <a:effectLst>
              <a:glow rad="139700">
                <a:schemeClr val="accent5">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8" descr="Incomplete - Free files and folders icons">
              <a:extLst>
                <a:ext uri="{FF2B5EF4-FFF2-40B4-BE49-F238E27FC236}">
                  <a16:creationId xmlns:a16="http://schemas.microsoft.com/office/drawing/2014/main" id="{2324A660-FF8B-F030-B398-17A4B1D5EBB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05237" y="2378587"/>
              <a:ext cx="362421" cy="38300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 descr="Spell checker Computer Icons Spelling Orthography, Spell Checker, angle,  text png | PNGEgg">
              <a:extLst>
                <a:ext uri="{FF2B5EF4-FFF2-40B4-BE49-F238E27FC236}">
                  <a16:creationId xmlns:a16="http://schemas.microsoft.com/office/drawing/2014/main" id="{ECB009FF-2333-E7B5-BB31-35E099058A57}"/>
                </a:ext>
              </a:extLst>
            </p:cNvPr>
            <p:cNvPicPr>
              <a:picLocks noChangeAspect="1" noChangeArrowheads="1"/>
            </p:cNvPicPr>
            <p:nvPr/>
          </p:nvPicPr>
          <p:blipFill>
            <a:blip r:embed="rId8" cstate="print">
              <a:alphaModFix amt="70000"/>
              <a:extLst>
                <a:ext uri="{28A0092B-C50C-407E-A947-70E740481C1C}">
                  <a14:useLocalDpi xmlns:a14="http://schemas.microsoft.com/office/drawing/2010/main" val="0"/>
                </a:ext>
              </a:extLst>
            </a:blip>
            <a:srcRect/>
            <a:stretch>
              <a:fillRect/>
            </a:stretch>
          </p:blipFill>
          <p:spPr bwMode="auto">
            <a:xfrm>
              <a:off x="1097280" y="2891888"/>
              <a:ext cx="473552" cy="41095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8" descr="Heavy - Free shapes and symbols icons">
              <a:extLst>
                <a:ext uri="{FF2B5EF4-FFF2-40B4-BE49-F238E27FC236}">
                  <a16:creationId xmlns:a16="http://schemas.microsoft.com/office/drawing/2014/main" id="{315B36E0-EBFE-BC6F-C40F-82237964FA06}"/>
                </a:ext>
              </a:extLst>
            </p:cNvPr>
            <p:cNvPicPr>
              <a:picLocks noChangeAspect="1" noChangeArrowheads="1"/>
            </p:cNvPicPr>
            <p:nvPr/>
          </p:nvPicPr>
          <p:blipFill>
            <a:blip r:embed="rId9" cstate="print">
              <a:alphaModFix amt="85000"/>
              <a:extLst>
                <a:ext uri="{28A0092B-C50C-407E-A947-70E740481C1C}">
                  <a14:useLocalDpi xmlns:a14="http://schemas.microsoft.com/office/drawing/2010/main" val="0"/>
                </a:ext>
              </a:extLst>
            </a:blip>
            <a:srcRect/>
            <a:stretch>
              <a:fillRect/>
            </a:stretch>
          </p:blipFill>
          <p:spPr bwMode="auto">
            <a:xfrm>
              <a:off x="4358832" y="2862392"/>
              <a:ext cx="389162" cy="38916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0" descr="Inaccessible - Free icons">
              <a:extLst>
                <a:ext uri="{FF2B5EF4-FFF2-40B4-BE49-F238E27FC236}">
                  <a16:creationId xmlns:a16="http://schemas.microsoft.com/office/drawing/2014/main" id="{EE6D2327-CC11-E12D-CA1B-0DAB62834457}"/>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t="5521" b="5313"/>
            <a:stretch>
              <a:fillRect/>
            </a:stretch>
          </p:blipFill>
          <p:spPr bwMode="auto">
            <a:xfrm>
              <a:off x="8047409" y="2906763"/>
              <a:ext cx="435361" cy="388197"/>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19B7D08E-4FA0-459B-9023-002B0638CCE8}"/>
                </a:ext>
              </a:extLst>
            </p:cNvPr>
            <p:cNvGrpSpPr/>
            <p:nvPr/>
          </p:nvGrpSpPr>
          <p:grpSpPr>
            <a:xfrm>
              <a:off x="8055661" y="2345306"/>
              <a:ext cx="431560" cy="399596"/>
              <a:chOff x="7915237" y="2242024"/>
              <a:chExt cx="431560" cy="399596"/>
            </a:xfrm>
          </p:grpSpPr>
          <p:pic>
            <p:nvPicPr>
              <p:cNvPr id="33" name="Picture 32">
                <a:extLst>
                  <a:ext uri="{FF2B5EF4-FFF2-40B4-BE49-F238E27FC236}">
                    <a16:creationId xmlns:a16="http://schemas.microsoft.com/office/drawing/2014/main" id="{7DDC3B6C-A5F7-245B-06F0-74FF4F559827}"/>
                  </a:ext>
                </a:extLst>
              </p:cNvPr>
              <p:cNvPicPr>
                <a:picLocks noChangeAspect="1"/>
              </p:cNvPicPr>
              <p:nvPr/>
            </p:nvPicPr>
            <p:blipFill>
              <a:blip r:embed="rId11" cstate="print">
                <a:alphaModFix amt="70000"/>
                <a:extLst>
                  <a:ext uri="{28A0092B-C50C-407E-A947-70E740481C1C}">
                    <a14:useLocalDpi xmlns:a14="http://schemas.microsoft.com/office/drawing/2010/main" val="0"/>
                  </a:ext>
                </a:extLst>
              </a:blip>
              <a:srcRect l="5930" t="7277" r="5425" b="6629"/>
              <a:stretch>
                <a:fillRect/>
              </a:stretch>
            </p:blipFill>
            <p:spPr>
              <a:xfrm>
                <a:off x="7915237" y="2242024"/>
                <a:ext cx="431560" cy="399596"/>
              </a:xfrm>
              <a:prstGeom prst="rect">
                <a:avLst/>
              </a:prstGeom>
            </p:spPr>
          </p:pic>
          <p:sp>
            <p:nvSpPr>
              <p:cNvPr id="34" name="Oval 33">
                <a:extLst>
                  <a:ext uri="{FF2B5EF4-FFF2-40B4-BE49-F238E27FC236}">
                    <a16:creationId xmlns:a16="http://schemas.microsoft.com/office/drawing/2014/main" id="{10D0983B-0FA2-96B1-66DA-44A7809A5437}"/>
                  </a:ext>
                </a:extLst>
              </p:cNvPr>
              <p:cNvSpPr/>
              <p:nvPr/>
            </p:nvSpPr>
            <p:spPr>
              <a:xfrm>
                <a:off x="7947205" y="2250315"/>
                <a:ext cx="362421" cy="383634"/>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Connector 34">
                <a:extLst>
                  <a:ext uri="{FF2B5EF4-FFF2-40B4-BE49-F238E27FC236}">
                    <a16:creationId xmlns:a16="http://schemas.microsoft.com/office/drawing/2014/main" id="{D0DC3D0D-828E-B6F3-10A9-D39561C23EC4}"/>
                  </a:ext>
                </a:extLst>
              </p:cNvPr>
              <p:cNvCxnSpPr>
                <a:cxnSpLocks/>
                <a:stCxn id="34" idx="1"/>
                <a:endCxn id="34" idx="5"/>
              </p:cNvCxnSpPr>
              <p:nvPr/>
            </p:nvCxnSpPr>
            <p:spPr>
              <a:xfrm>
                <a:off x="8000280" y="2306497"/>
                <a:ext cx="256271" cy="27127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7DB5824B-2B9F-F297-E3EB-8E822DA92E7A}"/>
                </a:ext>
              </a:extLst>
            </p:cNvPr>
            <p:cNvGrpSpPr/>
            <p:nvPr/>
          </p:nvGrpSpPr>
          <p:grpSpPr>
            <a:xfrm>
              <a:off x="4361740" y="3492966"/>
              <a:ext cx="389163" cy="389163"/>
              <a:chOff x="4221316" y="3596156"/>
              <a:chExt cx="389163" cy="389163"/>
            </a:xfrm>
          </p:grpSpPr>
          <p:pic>
            <p:nvPicPr>
              <p:cNvPr id="31" name="Picture 22" descr="Adaptability icon changes or improvement | Premium Vector">
                <a:extLst>
                  <a:ext uri="{FF2B5EF4-FFF2-40B4-BE49-F238E27FC236}">
                    <a16:creationId xmlns:a16="http://schemas.microsoft.com/office/drawing/2014/main" id="{34B81DE8-1399-D903-E871-6BA32EE54F36}"/>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221316" y="3596156"/>
                <a:ext cx="389163" cy="389163"/>
              </a:xfrm>
              <a:prstGeom prst="ellipse">
                <a:avLst/>
              </a:prstGeom>
              <a:ln w="28575">
                <a:solidFill>
                  <a:srgbClr val="FF0000"/>
                </a:solidFill>
              </a:ln>
              <a:effectLst>
                <a:softEdge rad="112500"/>
              </a:effectLst>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cxnSp>
            <p:nvCxnSpPr>
              <p:cNvPr id="32" name="Straight Connector 31">
                <a:extLst>
                  <a:ext uri="{FF2B5EF4-FFF2-40B4-BE49-F238E27FC236}">
                    <a16:creationId xmlns:a16="http://schemas.microsoft.com/office/drawing/2014/main" id="{AE09E5FC-421E-9552-275C-39A68F549852}"/>
                  </a:ext>
                </a:extLst>
              </p:cNvPr>
              <p:cNvCxnSpPr>
                <a:stCxn id="31" idx="1"/>
                <a:endCxn id="31" idx="5"/>
              </p:cNvCxnSpPr>
              <p:nvPr/>
            </p:nvCxnSpPr>
            <p:spPr>
              <a:xfrm>
                <a:off x="4278308" y="3653148"/>
                <a:ext cx="275179" cy="27517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30" name="Picture 24" descr="Dataset Icons - Free Download in SVG, PNG">
              <a:extLst>
                <a:ext uri="{FF2B5EF4-FFF2-40B4-BE49-F238E27FC236}">
                  <a16:creationId xmlns:a16="http://schemas.microsoft.com/office/drawing/2014/main" id="{BC8587D9-0BFC-67A0-CB85-44EDC4D68828}"/>
                </a:ext>
              </a:extLst>
            </p:cNvPr>
            <p:cNvPicPr>
              <a:picLocks noChangeAspect="1" noChangeArrowheads="1"/>
            </p:cNvPicPr>
            <p:nvPr/>
          </p:nvPicPr>
          <p:blipFill>
            <a:blip r:embed="rId13" cstate="print">
              <a:duotone>
                <a:schemeClr val="accent2">
                  <a:shade val="45000"/>
                  <a:satMod val="135000"/>
                </a:schemeClr>
                <a:prstClr val="white"/>
              </a:duotone>
              <a:extLst>
                <a:ext uri="{BEBA8EAE-BF5A-486C-A8C5-ECC9F3942E4B}">
                  <a14:imgProps xmlns:a14="http://schemas.microsoft.com/office/drawing/2010/main">
                    <a14:imgLayer r:embed="rId14">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123415" y="3492587"/>
              <a:ext cx="473551" cy="473551"/>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Date Placeholder 37">
            <a:extLst>
              <a:ext uri="{FF2B5EF4-FFF2-40B4-BE49-F238E27FC236}">
                <a16:creationId xmlns:a16="http://schemas.microsoft.com/office/drawing/2014/main" id="{3AACF334-C6F2-5153-A6D1-3570E77A843F}"/>
              </a:ext>
            </a:extLst>
          </p:cNvPr>
          <p:cNvSpPr>
            <a:spLocks noGrp="1"/>
          </p:cNvSpPr>
          <p:nvPr>
            <p:ph type="dt" sz="half" idx="10"/>
          </p:nvPr>
        </p:nvSpPr>
        <p:spPr/>
        <p:txBody>
          <a:bodyPr/>
          <a:lstStyle/>
          <a:p>
            <a:fld id="{5828F570-5B7D-4A05-B971-0A5DAA21E167}"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sp>
        <p:nvSpPr>
          <p:cNvPr id="7" name="TextBox 6">
            <a:extLst>
              <a:ext uri="{FF2B5EF4-FFF2-40B4-BE49-F238E27FC236}">
                <a16:creationId xmlns:a16="http://schemas.microsoft.com/office/drawing/2014/main" id="{D4C16F9E-CA1A-62E9-3D4A-9A8ECCD29056}"/>
              </a:ext>
            </a:extLst>
          </p:cNvPr>
          <p:cNvSpPr txBox="1"/>
          <p:nvPr/>
        </p:nvSpPr>
        <p:spPr>
          <a:xfrm>
            <a:off x="752474" y="1984536"/>
            <a:ext cx="5756481" cy="4201150"/>
          </a:xfrm>
          <a:prstGeom prst="rect">
            <a:avLst/>
          </a:prstGeom>
          <a:noFill/>
        </p:spPr>
        <p:txBody>
          <a:bodyPr wrap="square" rtlCol="0">
            <a:spAutoFit/>
          </a:bodyPr>
          <a:lstStyle/>
          <a:p>
            <a:pPr algn="just"/>
            <a:r>
              <a:rPr lang="en-US" b="1" dirty="0"/>
              <a:t>IVAN-OCR: </a:t>
            </a:r>
            <a:r>
              <a:rPr lang="en-US" dirty="0"/>
              <a:t>Derives texts from diverse government docs (Paddle-Surya Hybrid).</a:t>
            </a:r>
          </a:p>
          <a:p>
            <a:pPr algn="just">
              <a:spcBef>
                <a:spcPts val="600"/>
              </a:spcBef>
            </a:pPr>
            <a:r>
              <a:rPr lang="en-US" b="1" dirty="0"/>
              <a:t>IVAN-ASR (For Voice Modality): </a:t>
            </a:r>
            <a:r>
              <a:rPr lang="en-US" dirty="0"/>
              <a:t>Transcribes</a:t>
            </a:r>
            <a:r>
              <a:rPr lang="en-US" b="1" dirty="0"/>
              <a:t> </a:t>
            </a:r>
            <a:r>
              <a:rPr lang="en-US" dirty="0"/>
              <a:t>direct form-specific information as raw speech into texts in JSON form (OpenAI Whisper).</a:t>
            </a:r>
            <a:endParaRPr lang="en-US" b="1" dirty="0"/>
          </a:p>
          <a:p>
            <a:pPr algn="just">
              <a:spcBef>
                <a:spcPts val="600"/>
              </a:spcBef>
            </a:pPr>
            <a:r>
              <a:rPr lang="en-US" b="1" dirty="0"/>
              <a:t>IVAN-Translator: </a:t>
            </a:r>
            <a:r>
              <a:rPr lang="en-US" dirty="0"/>
              <a:t>Detects source languages (</a:t>
            </a:r>
            <a:r>
              <a:rPr lang="en-US" dirty="0" err="1"/>
              <a:t>PolyGlot</a:t>
            </a:r>
            <a:r>
              <a:rPr lang="en-US" dirty="0"/>
              <a:t>) of OCR-derived or ASR-transcribed texts and translates (nllb-200) them to a user specified target language</a:t>
            </a:r>
            <a:r>
              <a:rPr lang="en-IN" dirty="0"/>
              <a:t>.</a:t>
            </a:r>
          </a:p>
          <a:p>
            <a:pPr algn="just">
              <a:spcBef>
                <a:spcPts val="600"/>
              </a:spcBef>
            </a:pPr>
            <a:r>
              <a:rPr lang="en-IN" b="1" dirty="0"/>
              <a:t>IVAN-NER: </a:t>
            </a:r>
            <a:r>
              <a:rPr lang="en-IN" dirty="0"/>
              <a:t>Extracts form-field entities from OCR-translated texts (BERT-large, trained on IVAN-NER Dataset, a 100 samples English-text set from 9 government docs, manually annotated on 21 distinct form-entities) as JSON and auto-populates forms.</a:t>
            </a:r>
          </a:p>
        </p:txBody>
      </p:sp>
      <p:pic>
        <p:nvPicPr>
          <p:cNvPr id="10" name="Picture 9">
            <a:extLst>
              <a:ext uri="{FF2B5EF4-FFF2-40B4-BE49-F238E27FC236}">
                <a16:creationId xmlns:a16="http://schemas.microsoft.com/office/drawing/2014/main" id="{5AAF528A-A5C8-36DE-2C85-4A29361D37A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66270" y="1484671"/>
            <a:ext cx="4687529" cy="1904084"/>
          </a:xfrm>
          <a:prstGeom prst="rect">
            <a:avLst/>
          </a:prstGeom>
        </p:spPr>
      </p:pic>
      <p:sp>
        <p:nvSpPr>
          <p:cNvPr id="12" name="TextBox 11">
            <a:extLst>
              <a:ext uri="{FF2B5EF4-FFF2-40B4-BE49-F238E27FC236}">
                <a16:creationId xmlns:a16="http://schemas.microsoft.com/office/drawing/2014/main" id="{437B67A6-BF5D-5437-04C2-CA4BB36D67F4}"/>
              </a:ext>
            </a:extLst>
          </p:cNvPr>
          <p:cNvSpPr txBox="1"/>
          <p:nvPr/>
        </p:nvSpPr>
        <p:spPr>
          <a:xfrm>
            <a:off x="7090732" y="3348237"/>
            <a:ext cx="3838604" cy="323165"/>
          </a:xfrm>
          <a:prstGeom prst="rect">
            <a:avLst/>
          </a:prstGeom>
          <a:noFill/>
        </p:spPr>
        <p:txBody>
          <a:bodyPr wrap="square" rtlCol="0">
            <a:spAutoFit/>
          </a:bodyPr>
          <a:lstStyle/>
          <a:p>
            <a:pPr algn="ctr"/>
            <a:r>
              <a:rPr lang="en-IN" sz="1500" b="1" dirty="0"/>
              <a:t>Figure 1: OCR-Translator-NER Pipeline</a:t>
            </a:r>
          </a:p>
        </p:txBody>
      </p:sp>
      <p:pic>
        <p:nvPicPr>
          <p:cNvPr id="17" name="Picture 16">
            <a:extLst>
              <a:ext uri="{FF2B5EF4-FFF2-40B4-BE49-F238E27FC236}">
                <a16:creationId xmlns:a16="http://schemas.microsoft.com/office/drawing/2014/main" id="{5CBC8F5D-2383-CCCF-0BB5-644FE294568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6270" y="3842928"/>
            <a:ext cx="4687529" cy="1865168"/>
          </a:xfrm>
          <a:prstGeom prst="rect">
            <a:avLst/>
          </a:prstGeom>
        </p:spPr>
      </p:pic>
      <p:sp>
        <p:nvSpPr>
          <p:cNvPr id="19" name="TextBox 18">
            <a:extLst>
              <a:ext uri="{FF2B5EF4-FFF2-40B4-BE49-F238E27FC236}">
                <a16:creationId xmlns:a16="http://schemas.microsoft.com/office/drawing/2014/main" id="{CBF80EE5-A219-2160-47D9-EFCC1610D179}"/>
              </a:ext>
            </a:extLst>
          </p:cNvPr>
          <p:cNvSpPr txBox="1"/>
          <p:nvPr/>
        </p:nvSpPr>
        <p:spPr>
          <a:xfrm>
            <a:off x="7090732" y="5621534"/>
            <a:ext cx="3838604" cy="323165"/>
          </a:xfrm>
          <a:prstGeom prst="rect">
            <a:avLst/>
          </a:prstGeom>
          <a:noFill/>
        </p:spPr>
        <p:txBody>
          <a:bodyPr wrap="square" rtlCol="0">
            <a:spAutoFit/>
          </a:bodyPr>
          <a:lstStyle/>
          <a:p>
            <a:pPr algn="ctr"/>
            <a:r>
              <a:rPr lang="en-IN" sz="1500" b="1" dirty="0"/>
              <a:t>Figure 2: ASR-Translator Pipeline</a:t>
            </a:r>
          </a:p>
        </p:txBody>
      </p:sp>
      <p:sp>
        <p:nvSpPr>
          <p:cNvPr id="9" name="Date Placeholder 8">
            <a:extLst>
              <a:ext uri="{FF2B5EF4-FFF2-40B4-BE49-F238E27FC236}">
                <a16:creationId xmlns:a16="http://schemas.microsoft.com/office/drawing/2014/main" id="{7E7C0FEA-C07C-FAE5-CCCC-7FFEF0B6A071}"/>
              </a:ext>
            </a:extLst>
          </p:cNvPr>
          <p:cNvSpPr>
            <a:spLocks noGrp="1"/>
          </p:cNvSpPr>
          <p:nvPr>
            <p:ph type="dt" sz="half" idx="10"/>
          </p:nvPr>
        </p:nvSpPr>
        <p:spPr/>
        <p:txBody>
          <a:bodyPr/>
          <a:lstStyle/>
          <a:p>
            <a:fld id="{F083B78A-DDA5-4DC9-BA47-C3F9482F9F20}"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Results and Discussion</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graphicFrame>
        <p:nvGraphicFramePr>
          <p:cNvPr id="7" name="Table 6">
            <a:extLst>
              <a:ext uri="{FF2B5EF4-FFF2-40B4-BE49-F238E27FC236}">
                <a16:creationId xmlns:a16="http://schemas.microsoft.com/office/drawing/2014/main" id="{73C4DFD9-1BEE-A6D3-CA76-79196D28C13A}"/>
              </a:ext>
            </a:extLst>
          </p:cNvPr>
          <p:cNvGraphicFramePr>
            <a:graphicFrameLocks noGrp="1"/>
          </p:cNvGraphicFramePr>
          <p:nvPr>
            <p:extLst>
              <p:ext uri="{D42A27DB-BD31-4B8C-83A1-F6EECF244321}">
                <p14:modId xmlns:p14="http://schemas.microsoft.com/office/powerpoint/2010/main" val="3858964451"/>
              </p:ext>
            </p:extLst>
          </p:nvPr>
        </p:nvGraphicFramePr>
        <p:xfrm>
          <a:off x="992813" y="4415267"/>
          <a:ext cx="10206375" cy="1190752"/>
        </p:xfrm>
        <a:graphic>
          <a:graphicData uri="http://schemas.openxmlformats.org/drawingml/2006/table">
            <a:tbl>
              <a:tblPr firstRow="1" firstCol="1" bandRow="1">
                <a:tableStyleId>{5C22544A-7EE6-4342-B048-85BDC9FD1C3A}</a:tableStyleId>
              </a:tblPr>
              <a:tblGrid>
                <a:gridCol w="5417819">
                  <a:extLst>
                    <a:ext uri="{9D8B030D-6E8A-4147-A177-3AD203B41FA5}">
                      <a16:colId xmlns:a16="http://schemas.microsoft.com/office/drawing/2014/main" val="2157414593"/>
                    </a:ext>
                  </a:extLst>
                </a:gridCol>
                <a:gridCol w="1681316">
                  <a:extLst>
                    <a:ext uri="{9D8B030D-6E8A-4147-A177-3AD203B41FA5}">
                      <a16:colId xmlns:a16="http://schemas.microsoft.com/office/drawing/2014/main" val="395350613"/>
                    </a:ext>
                  </a:extLst>
                </a:gridCol>
                <a:gridCol w="3107240">
                  <a:extLst>
                    <a:ext uri="{9D8B030D-6E8A-4147-A177-3AD203B41FA5}">
                      <a16:colId xmlns:a16="http://schemas.microsoft.com/office/drawing/2014/main" val="1757092115"/>
                    </a:ext>
                  </a:extLst>
                </a:gridCol>
              </a:tblGrid>
              <a:tr h="297688">
                <a:tc>
                  <a:txBody>
                    <a:bodyPr/>
                    <a:lstStyle/>
                    <a:p>
                      <a:pPr algn="ctr">
                        <a:buNone/>
                      </a:pPr>
                      <a:r>
                        <a:rPr lang="en-US" sz="1500" dirty="0">
                          <a:solidFill>
                            <a:schemeClr val="tx1"/>
                          </a:solidFill>
                          <a:effectLst/>
                        </a:rPr>
                        <a:t>Model/System</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dirty="0">
                          <a:solidFill>
                            <a:schemeClr val="tx1"/>
                          </a:solidFill>
                          <a:effectLst/>
                        </a:rPr>
                        <a:t>F1-score</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latin typeface="Calibri (Body)"/>
                          <a:ea typeface="Cambria" panose="02040503050406030204" pitchFamily="18" charset="0"/>
                          <a:cs typeface="Cambria" panose="02040503050406030204" pitchFamily="18" charset="0"/>
                        </a:rPr>
                        <a:t>Constraints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3312491"/>
                  </a:ext>
                </a:extLst>
              </a:tr>
              <a:tr h="297688">
                <a:tc>
                  <a:txBody>
                    <a:bodyPr/>
                    <a:lstStyle/>
                    <a:p>
                      <a:pPr algn="just">
                        <a:buNone/>
                      </a:pPr>
                      <a:r>
                        <a:rPr lang="en-US" sz="1500" b="0" dirty="0">
                          <a:solidFill>
                            <a:schemeClr val="tx1"/>
                          </a:solidFill>
                          <a:effectLst/>
                        </a:rPr>
                        <a:t>SCAN + GOT-580M (OHR-Bench) [7]</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0" dirty="0">
                          <a:solidFill>
                            <a:schemeClr val="tx1"/>
                          </a:solidFill>
                          <a:effectLst/>
                        </a:rPr>
                        <a:t>30.8</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Highly complex architecture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485363"/>
                  </a:ext>
                </a:extLst>
              </a:tr>
              <a:tr h="297688">
                <a:tc>
                  <a:txBody>
                    <a:bodyPr/>
                    <a:lstStyle/>
                    <a:p>
                      <a:pPr algn="just">
                        <a:buNone/>
                      </a:pPr>
                      <a:r>
                        <a:rPr lang="en-US" sz="1500" b="0" dirty="0">
                          <a:solidFill>
                            <a:schemeClr val="tx1"/>
                          </a:solidFill>
                          <a:effectLst/>
                        </a:rPr>
                        <a:t>SCAN + Qwen2.5-VL-72B (OHR-Bench) [7]</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rPr>
                        <a:t>33.8</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Highly complex architecture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4246660"/>
                  </a:ext>
                </a:extLst>
              </a:tr>
              <a:tr h="297688">
                <a:tc>
                  <a:txBody>
                    <a:bodyPr/>
                    <a:lstStyle/>
                    <a:p>
                      <a:pPr algn="just">
                        <a:buNone/>
                      </a:pPr>
                      <a:r>
                        <a:rPr lang="en-US" sz="1500" b="0" dirty="0">
                          <a:solidFill>
                            <a:schemeClr val="tx1"/>
                          </a:solidFill>
                          <a:effectLst/>
                        </a:rPr>
                        <a:t>IVAN-OCR (Paddle-Surya Hybrid) – </a:t>
                      </a:r>
                      <a:r>
                        <a:rPr lang="en-US" sz="1500" b="1" dirty="0">
                          <a:solidFill>
                            <a:schemeClr val="tx1"/>
                          </a:solidFill>
                          <a:effectLst/>
                        </a:rPr>
                        <a:t>Proposed in this paper</a:t>
                      </a:r>
                      <a:endParaRPr lang="en-IN" sz="1500" b="1"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rPr>
                        <a:t>77.81</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7070350"/>
                  </a:ext>
                </a:extLst>
              </a:tr>
            </a:tbl>
          </a:graphicData>
        </a:graphic>
      </p:graphicFrame>
      <p:sp>
        <p:nvSpPr>
          <p:cNvPr id="9" name="Content Placeholder 9">
            <a:extLst>
              <a:ext uri="{FF2B5EF4-FFF2-40B4-BE49-F238E27FC236}">
                <a16:creationId xmlns:a16="http://schemas.microsoft.com/office/drawing/2014/main" id="{FC59CCFB-60C4-DCB2-89DF-E5F003559FD3}"/>
              </a:ext>
            </a:extLst>
          </p:cNvPr>
          <p:cNvSpPr txBox="1">
            <a:spLocks/>
          </p:cNvSpPr>
          <p:nvPr/>
        </p:nvSpPr>
        <p:spPr>
          <a:xfrm>
            <a:off x="3157847" y="5752012"/>
            <a:ext cx="5954964" cy="40447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500" b="1" dirty="0">
                <a:solidFill>
                  <a:schemeClr val="tx1"/>
                </a:solidFill>
              </a:rPr>
              <a:t>Table 3: Comparative Benchmarking of IVAN-OCR (on F1-score)</a:t>
            </a:r>
          </a:p>
        </p:txBody>
      </p:sp>
      <p:sp>
        <p:nvSpPr>
          <p:cNvPr id="10" name="Content Placeholder 9">
            <a:extLst>
              <a:ext uri="{FF2B5EF4-FFF2-40B4-BE49-F238E27FC236}">
                <a16:creationId xmlns:a16="http://schemas.microsoft.com/office/drawing/2014/main" id="{9176B101-648D-8B9C-B535-03E505E84801}"/>
              </a:ext>
            </a:extLst>
          </p:cNvPr>
          <p:cNvSpPr txBox="1">
            <a:spLocks/>
          </p:cNvSpPr>
          <p:nvPr/>
        </p:nvSpPr>
        <p:spPr>
          <a:xfrm>
            <a:off x="3228365" y="3925397"/>
            <a:ext cx="5735269" cy="35686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500" b="1" dirty="0">
                <a:solidFill>
                  <a:schemeClr val="tx1"/>
                </a:solidFill>
              </a:rPr>
              <a:t>Table 2: Comparative Benchmarking of IVAN-OCR (on WER)</a:t>
            </a:r>
          </a:p>
        </p:txBody>
      </p:sp>
      <p:graphicFrame>
        <p:nvGraphicFramePr>
          <p:cNvPr id="11" name="Table 10">
            <a:extLst>
              <a:ext uri="{FF2B5EF4-FFF2-40B4-BE49-F238E27FC236}">
                <a16:creationId xmlns:a16="http://schemas.microsoft.com/office/drawing/2014/main" id="{FD930D46-E081-E0F8-D260-B5A047A17A88}"/>
              </a:ext>
            </a:extLst>
          </p:cNvPr>
          <p:cNvGraphicFramePr>
            <a:graphicFrameLocks noGrp="1"/>
          </p:cNvGraphicFramePr>
          <p:nvPr>
            <p:extLst>
              <p:ext uri="{D42A27DB-BD31-4B8C-83A1-F6EECF244321}">
                <p14:modId xmlns:p14="http://schemas.microsoft.com/office/powerpoint/2010/main" val="538941690"/>
              </p:ext>
            </p:extLst>
          </p:nvPr>
        </p:nvGraphicFramePr>
        <p:xfrm>
          <a:off x="992812" y="2433984"/>
          <a:ext cx="10206374" cy="1401465"/>
        </p:xfrm>
        <a:graphic>
          <a:graphicData uri="http://schemas.openxmlformats.org/drawingml/2006/table">
            <a:tbl>
              <a:tblPr firstRow="1" firstCol="1" bandRow="1">
                <a:tableStyleId>{5C22544A-7EE6-4342-B048-85BDC9FD1C3A}</a:tableStyleId>
              </a:tblPr>
              <a:tblGrid>
                <a:gridCol w="5376953">
                  <a:extLst>
                    <a:ext uri="{9D8B030D-6E8A-4147-A177-3AD203B41FA5}">
                      <a16:colId xmlns:a16="http://schemas.microsoft.com/office/drawing/2014/main" val="2157414593"/>
                    </a:ext>
                  </a:extLst>
                </a:gridCol>
                <a:gridCol w="1483401">
                  <a:extLst>
                    <a:ext uri="{9D8B030D-6E8A-4147-A177-3AD203B41FA5}">
                      <a16:colId xmlns:a16="http://schemas.microsoft.com/office/drawing/2014/main" val="395350613"/>
                    </a:ext>
                  </a:extLst>
                </a:gridCol>
                <a:gridCol w="3346020">
                  <a:extLst>
                    <a:ext uri="{9D8B030D-6E8A-4147-A177-3AD203B41FA5}">
                      <a16:colId xmlns:a16="http://schemas.microsoft.com/office/drawing/2014/main" val="1757092115"/>
                    </a:ext>
                  </a:extLst>
                </a:gridCol>
              </a:tblGrid>
              <a:tr h="280293">
                <a:tc>
                  <a:txBody>
                    <a:bodyPr/>
                    <a:lstStyle/>
                    <a:p>
                      <a:pPr algn="ctr">
                        <a:buNone/>
                      </a:pPr>
                      <a:r>
                        <a:rPr lang="en-US" sz="1500" dirty="0">
                          <a:solidFill>
                            <a:schemeClr val="tx1"/>
                          </a:solidFill>
                          <a:effectLst/>
                        </a:rPr>
                        <a:t>Model/System</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dirty="0">
                          <a:solidFill>
                            <a:schemeClr val="tx1"/>
                          </a:solidFill>
                          <a:effectLst/>
                        </a:rPr>
                        <a:t>WER</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latin typeface="Calibri (Body)"/>
                          <a:ea typeface="Cambria" panose="02040503050406030204" pitchFamily="18" charset="0"/>
                          <a:cs typeface="Cambria" panose="02040503050406030204" pitchFamily="18" charset="0"/>
                        </a:rPr>
                        <a:t>Constraints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3312491"/>
                  </a:ext>
                </a:extLst>
              </a:tr>
              <a:tr h="28029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500" b="0" i="0" u="none" strike="noStrike" kern="1200" baseline="0" dirty="0">
                          <a:solidFill>
                            <a:schemeClr val="tx1"/>
                          </a:solidFill>
                          <a:latin typeface="+mn-lt"/>
                          <a:ea typeface="+mn-ea"/>
                          <a:cs typeface="+mn-cs"/>
                        </a:rPr>
                        <a:t>Tesseract (English, Real Hist. Books) [6]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0" dirty="0">
                          <a:solidFill>
                            <a:schemeClr val="tx1"/>
                          </a:solidFill>
                          <a:effectLst/>
                          <a:latin typeface="Calibri (Body)"/>
                        </a:rPr>
                        <a:t>26.70</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Complex, brittle &amp; no code-mixing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485363"/>
                  </a:ext>
                </a:extLst>
              </a:tr>
              <a:tr h="280293">
                <a:tc>
                  <a:txBody>
                    <a:bodyPr/>
                    <a:lstStyle/>
                    <a:p>
                      <a:pPr algn="just">
                        <a:buNone/>
                      </a:pPr>
                      <a:r>
                        <a:rPr lang="en-US" sz="1500" b="0" i="0" u="none" strike="noStrike" kern="1200" baseline="0" dirty="0">
                          <a:solidFill>
                            <a:schemeClr val="tx1"/>
                          </a:solidFill>
                          <a:latin typeface="+mn-lt"/>
                          <a:ea typeface="+mn-ea"/>
                          <a:cs typeface="+mn-cs"/>
                        </a:rPr>
                        <a:t>GOT OCR (English, Real Hist. Books) [6]</a:t>
                      </a:r>
                      <a:endParaRPr lang="en-IN" sz="15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latin typeface="Calibri (Body)"/>
                          <a:ea typeface="Cambria" panose="02040503050406030204" pitchFamily="18" charset="0"/>
                          <a:cs typeface="Cambria" panose="02040503050406030204" pitchFamily="18" charset="0"/>
                        </a:rPr>
                        <a:t>20.29</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Complex, brittle &amp; no code-mixing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4246660"/>
                  </a:ext>
                </a:extLst>
              </a:tr>
              <a:tr h="28029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500" b="0" i="0" u="none" strike="noStrike" kern="1200" baseline="0" dirty="0">
                          <a:solidFill>
                            <a:schemeClr val="tx1"/>
                          </a:solidFill>
                          <a:latin typeface="+mn-lt"/>
                          <a:ea typeface="+mn-ea"/>
                          <a:cs typeface="+mn-cs"/>
                        </a:rPr>
                        <a:t>GPT-4o (English, Real Hist. Books) [6]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b="0" dirty="0">
                          <a:solidFill>
                            <a:schemeClr val="tx1"/>
                          </a:solidFill>
                          <a:effectLst/>
                          <a:latin typeface="Calibri (Body)"/>
                          <a:ea typeface="Cambria" panose="02040503050406030204" pitchFamily="18" charset="0"/>
                          <a:cs typeface="Cambria" panose="02040503050406030204" pitchFamily="18" charset="0"/>
                        </a:rPr>
                        <a:t>3.43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Complex, brittle &amp; no code-mixing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835830"/>
                  </a:ext>
                </a:extLst>
              </a:tr>
              <a:tr h="280293">
                <a:tc>
                  <a:txBody>
                    <a:bodyPr/>
                    <a:lstStyle/>
                    <a:p>
                      <a:pPr algn="just">
                        <a:buNone/>
                      </a:pPr>
                      <a:r>
                        <a:rPr lang="en-US" sz="1500" b="0" dirty="0">
                          <a:solidFill>
                            <a:schemeClr val="tx1"/>
                          </a:solidFill>
                          <a:effectLst/>
                        </a:rPr>
                        <a:t>IVAN-OCR (Paddle-Surya Hybrid) – </a:t>
                      </a:r>
                      <a:r>
                        <a:rPr lang="en-US" sz="1500" b="1" dirty="0">
                          <a:solidFill>
                            <a:schemeClr val="tx1"/>
                          </a:solidFill>
                          <a:effectLst/>
                        </a:rPr>
                        <a:t>Proposed in this paper</a:t>
                      </a:r>
                      <a:endParaRPr lang="en-IN" sz="1500" b="1"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latin typeface="Calibri (Body)"/>
                        </a:rPr>
                        <a:t>57.31</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7070350"/>
                  </a:ext>
                </a:extLst>
              </a:tr>
            </a:tbl>
          </a:graphicData>
        </a:graphic>
      </p:graphicFrame>
      <p:sp>
        <p:nvSpPr>
          <p:cNvPr id="13" name="TextBox 12">
            <a:extLst>
              <a:ext uri="{FF2B5EF4-FFF2-40B4-BE49-F238E27FC236}">
                <a16:creationId xmlns:a16="http://schemas.microsoft.com/office/drawing/2014/main" id="{1CFEF7A8-7FE1-00CC-43FF-74FF8C278D6A}"/>
              </a:ext>
            </a:extLst>
          </p:cNvPr>
          <p:cNvSpPr txBox="1"/>
          <p:nvPr/>
        </p:nvSpPr>
        <p:spPr>
          <a:xfrm>
            <a:off x="752474" y="1984536"/>
            <a:ext cx="10601325" cy="369332"/>
          </a:xfrm>
          <a:prstGeom prst="rect">
            <a:avLst/>
          </a:prstGeom>
          <a:noFill/>
        </p:spPr>
        <p:txBody>
          <a:bodyPr wrap="square" rtlCol="0">
            <a:spAutoFit/>
          </a:bodyPr>
          <a:lstStyle/>
          <a:p>
            <a:pPr algn="just"/>
            <a:r>
              <a:rPr lang="en-US" b="1" dirty="0"/>
              <a:t>The comparative analysis of IVAN-OCR: </a:t>
            </a:r>
            <a:r>
              <a:rPr lang="en-US" dirty="0"/>
              <a:t>Processing latency per document is 3.46s.</a:t>
            </a:r>
            <a:endParaRPr lang="en-US" b="1" dirty="0"/>
          </a:p>
        </p:txBody>
      </p:sp>
      <p:sp>
        <p:nvSpPr>
          <p:cNvPr id="12" name="Date Placeholder 11">
            <a:extLst>
              <a:ext uri="{FF2B5EF4-FFF2-40B4-BE49-F238E27FC236}">
                <a16:creationId xmlns:a16="http://schemas.microsoft.com/office/drawing/2014/main" id="{68E27844-FF94-E472-6284-757A6D312CF2}"/>
              </a:ext>
            </a:extLst>
          </p:cNvPr>
          <p:cNvSpPr>
            <a:spLocks noGrp="1"/>
          </p:cNvSpPr>
          <p:nvPr>
            <p:ph type="dt" sz="half" idx="10"/>
          </p:nvPr>
        </p:nvSpPr>
        <p:spPr/>
        <p:txBody>
          <a:bodyPr/>
          <a:lstStyle/>
          <a:p>
            <a:fld id="{14558C12-EBD6-4F77-AC02-0E9446D02CC9}"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6B12F-FD22-F6D2-A37D-26C55BB4539B}"/>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FB402D65-26BB-D9BC-BCBA-3132BD7BB5A0}"/>
              </a:ext>
            </a:extLst>
          </p:cNvPr>
          <p:cNvGrpSpPr/>
          <p:nvPr/>
        </p:nvGrpSpPr>
        <p:grpSpPr>
          <a:xfrm>
            <a:off x="0" y="-8932"/>
            <a:ext cx="12192000" cy="6866932"/>
            <a:chOff x="0" y="-8932"/>
            <a:chExt cx="12192000" cy="6866932"/>
          </a:xfrm>
        </p:grpSpPr>
        <p:sp>
          <p:nvSpPr>
            <p:cNvPr id="3" name="Rectangle 2">
              <a:extLst>
                <a:ext uri="{FF2B5EF4-FFF2-40B4-BE49-F238E27FC236}">
                  <a16:creationId xmlns:a16="http://schemas.microsoft.com/office/drawing/2014/main" id="{C3680C60-91EC-6A24-79BF-10A3DC959303}"/>
                </a:ext>
              </a:extLst>
            </p:cNvPr>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804CE31F-5650-B120-5FB9-08894A4245F9}"/>
                </a:ext>
              </a:extLst>
            </p:cNvPr>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69EF99E-E7F3-79F6-65A6-5C63A54B63DC}"/>
                </a:ext>
              </a:extLst>
            </p:cNvPr>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a:extLst>
                <a:ext uri="{FF2B5EF4-FFF2-40B4-BE49-F238E27FC236}">
                  <a16:creationId xmlns:a16="http://schemas.microsoft.com/office/drawing/2014/main" id="{ADBD251D-79C5-71FB-1974-E9BE5F17158A}"/>
                </a:ext>
              </a:extLst>
            </p:cNvPr>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a:extLst>
              <a:ext uri="{FF2B5EF4-FFF2-40B4-BE49-F238E27FC236}">
                <a16:creationId xmlns:a16="http://schemas.microsoft.com/office/drawing/2014/main" id="{13FD3324-E3C8-2EBD-2F28-8F9C34A3ACA9}"/>
              </a:ext>
            </a:extLst>
          </p:cNvPr>
          <p:cNvPicPr>
            <a:picLocks noChangeAspect="1"/>
          </p:cNvPicPr>
          <p:nvPr/>
        </p:nvPicPr>
        <p:blipFill>
          <a:blip r:embed="rId3"/>
          <a:stretch>
            <a:fillRect/>
          </a:stretch>
        </p:blipFill>
        <p:spPr>
          <a:xfrm>
            <a:off x="11226800" y="0"/>
            <a:ext cx="965200" cy="965200"/>
          </a:xfrm>
          <a:prstGeom prst="rect">
            <a:avLst/>
          </a:prstGeom>
        </p:spPr>
      </p:pic>
      <p:sp>
        <p:nvSpPr>
          <p:cNvPr id="5" name="Title 1">
            <a:extLst>
              <a:ext uri="{FF2B5EF4-FFF2-40B4-BE49-F238E27FC236}">
                <a16:creationId xmlns:a16="http://schemas.microsoft.com/office/drawing/2014/main" id="{F0661ECF-5F95-22FD-87F8-252361DF2E1B}"/>
              </a:ext>
            </a:extLst>
          </p:cNvPr>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Results and Discussion</a:t>
            </a: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4C5B4D4-A462-F517-AD6F-F188A4586353}"/>
              </a:ext>
            </a:extLst>
          </p:cNvPr>
          <p:cNvPicPr>
            <a:picLocks noChangeAspect="1"/>
          </p:cNvPicPr>
          <p:nvPr/>
        </p:nvPicPr>
        <p:blipFill>
          <a:blip r:embed="rId4"/>
          <a:stretch>
            <a:fillRect/>
          </a:stretch>
        </p:blipFill>
        <p:spPr>
          <a:xfrm>
            <a:off x="-5080" y="-8255"/>
            <a:ext cx="1515110" cy="955675"/>
          </a:xfrm>
          <a:prstGeom prst="rect">
            <a:avLst/>
          </a:prstGeom>
        </p:spPr>
      </p:pic>
      <p:sp>
        <p:nvSpPr>
          <p:cNvPr id="9" name="Content Placeholder 9">
            <a:extLst>
              <a:ext uri="{FF2B5EF4-FFF2-40B4-BE49-F238E27FC236}">
                <a16:creationId xmlns:a16="http://schemas.microsoft.com/office/drawing/2014/main" id="{98EF88B8-4BC2-8189-763F-8B263B4F6EA1}"/>
              </a:ext>
            </a:extLst>
          </p:cNvPr>
          <p:cNvSpPr txBox="1">
            <a:spLocks/>
          </p:cNvSpPr>
          <p:nvPr/>
        </p:nvSpPr>
        <p:spPr>
          <a:xfrm>
            <a:off x="3157847" y="5673356"/>
            <a:ext cx="5954964" cy="40447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500" b="1" dirty="0">
                <a:solidFill>
                  <a:schemeClr val="tx1"/>
                </a:solidFill>
              </a:rPr>
              <a:t>Table 5: Comparative Benchmarking of IVAN-ASR (on F1-score)</a:t>
            </a:r>
          </a:p>
        </p:txBody>
      </p:sp>
      <p:sp>
        <p:nvSpPr>
          <p:cNvPr id="10" name="Content Placeholder 9">
            <a:extLst>
              <a:ext uri="{FF2B5EF4-FFF2-40B4-BE49-F238E27FC236}">
                <a16:creationId xmlns:a16="http://schemas.microsoft.com/office/drawing/2014/main" id="{C8175122-F378-BE75-A3E4-C420883B6E67}"/>
              </a:ext>
            </a:extLst>
          </p:cNvPr>
          <p:cNvSpPr txBox="1">
            <a:spLocks/>
          </p:cNvSpPr>
          <p:nvPr/>
        </p:nvSpPr>
        <p:spPr>
          <a:xfrm>
            <a:off x="3228365" y="4181029"/>
            <a:ext cx="5735269" cy="35686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500" b="1" dirty="0">
                <a:solidFill>
                  <a:schemeClr val="tx1"/>
                </a:solidFill>
              </a:rPr>
              <a:t>Table 4: Comparative Benchmarking of IVAN-ASR (on WER)</a:t>
            </a:r>
          </a:p>
        </p:txBody>
      </p:sp>
      <p:sp>
        <p:nvSpPr>
          <p:cNvPr id="13" name="TextBox 12">
            <a:extLst>
              <a:ext uri="{FF2B5EF4-FFF2-40B4-BE49-F238E27FC236}">
                <a16:creationId xmlns:a16="http://schemas.microsoft.com/office/drawing/2014/main" id="{20A99BCE-5ABB-DFAD-346E-AA735A42F140}"/>
              </a:ext>
            </a:extLst>
          </p:cNvPr>
          <p:cNvSpPr txBox="1"/>
          <p:nvPr/>
        </p:nvSpPr>
        <p:spPr>
          <a:xfrm>
            <a:off x="752474" y="1984536"/>
            <a:ext cx="10601325" cy="369332"/>
          </a:xfrm>
          <a:prstGeom prst="rect">
            <a:avLst/>
          </a:prstGeom>
          <a:noFill/>
        </p:spPr>
        <p:txBody>
          <a:bodyPr wrap="square" rtlCol="0">
            <a:spAutoFit/>
          </a:bodyPr>
          <a:lstStyle/>
          <a:p>
            <a:pPr algn="just"/>
            <a:r>
              <a:rPr lang="en-US" b="1" dirty="0"/>
              <a:t>The analysis of IVAN-ASR: </a:t>
            </a:r>
            <a:r>
              <a:rPr lang="en-US" dirty="0"/>
              <a:t>Processing latency per voice </a:t>
            </a:r>
            <a:r>
              <a:rPr lang="en-IN" dirty="0"/>
              <a:t>input</a:t>
            </a:r>
            <a:r>
              <a:rPr lang="en-US" dirty="0"/>
              <a:t> is 3.02s.</a:t>
            </a:r>
            <a:endParaRPr lang="en-US" b="1" dirty="0"/>
          </a:p>
        </p:txBody>
      </p:sp>
      <p:graphicFrame>
        <p:nvGraphicFramePr>
          <p:cNvPr id="12" name="Table 11">
            <a:extLst>
              <a:ext uri="{FF2B5EF4-FFF2-40B4-BE49-F238E27FC236}">
                <a16:creationId xmlns:a16="http://schemas.microsoft.com/office/drawing/2014/main" id="{42F3499F-DD5A-9DE9-CDE7-9D5B4E7DC7CB}"/>
              </a:ext>
            </a:extLst>
          </p:cNvPr>
          <p:cNvGraphicFramePr>
            <a:graphicFrameLocks noGrp="1"/>
          </p:cNvGraphicFramePr>
          <p:nvPr>
            <p:extLst>
              <p:ext uri="{D42A27DB-BD31-4B8C-83A1-F6EECF244321}">
                <p14:modId xmlns:p14="http://schemas.microsoft.com/office/powerpoint/2010/main" val="2353463094"/>
              </p:ext>
            </p:extLst>
          </p:nvPr>
        </p:nvGraphicFramePr>
        <p:xfrm>
          <a:off x="851718" y="2461449"/>
          <a:ext cx="10488561" cy="1652244"/>
        </p:xfrm>
        <a:graphic>
          <a:graphicData uri="http://schemas.openxmlformats.org/drawingml/2006/table">
            <a:tbl>
              <a:tblPr firstRow="1" firstCol="1" bandRow="1">
                <a:tableStyleId>{5C22544A-7EE6-4342-B048-85BDC9FD1C3A}</a:tableStyleId>
              </a:tblPr>
              <a:tblGrid>
                <a:gridCol w="4876801">
                  <a:extLst>
                    <a:ext uri="{9D8B030D-6E8A-4147-A177-3AD203B41FA5}">
                      <a16:colId xmlns:a16="http://schemas.microsoft.com/office/drawing/2014/main" val="2157414593"/>
                    </a:ext>
                  </a:extLst>
                </a:gridCol>
                <a:gridCol w="1160206">
                  <a:extLst>
                    <a:ext uri="{9D8B030D-6E8A-4147-A177-3AD203B41FA5}">
                      <a16:colId xmlns:a16="http://schemas.microsoft.com/office/drawing/2014/main" val="395350613"/>
                    </a:ext>
                  </a:extLst>
                </a:gridCol>
                <a:gridCol w="4451554">
                  <a:extLst>
                    <a:ext uri="{9D8B030D-6E8A-4147-A177-3AD203B41FA5}">
                      <a16:colId xmlns:a16="http://schemas.microsoft.com/office/drawing/2014/main" val="1757092115"/>
                    </a:ext>
                  </a:extLst>
                </a:gridCol>
              </a:tblGrid>
              <a:tr h="279666">
                <a:tc>
                  <a:txBody>
                    <a:bodyPr/>
                    <a:lstStyle/>
                    <a:p>
                      <a:pPr algn="ctr">
                        <a:buNone/>
                      </a:pPr>
                      <a:r>
                        <a:rPr lang="en-US" sz="1500" dirty="0">
                          <a:solidFill>
                            <a:schemeClr val="tx1"/>
                          </a:solidFill>
                          <a:effectLst/>
                        </a:rPr>
                        <a:t>Model/System</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dirty="0">
                          <a:solidFill>
                            <a:schemeClr val="tx1"/>
                          </a:solidFill>
                          <a:effectLst/>
                        </a:rPr>
                        <a:t>WER</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latin typeface="Calibri (Body)"/>
                          <a:ea typeface="Cambria" panose="02040503050406030204" pitchFamily="18" charset="0"/>
                          <a:cs typeface="Cambria" panose="02040503050406030204" pitchFamily="18" charset="0"/>
                        </a:rPr>
                        <a:t>Constraints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3312491"/>
                  </a:ext>
                </a:extLst>
              </a:tr>
              <a:tr h="27966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err="1">
                          <a:solidFill>
                            <a:schemeClr val="tx1"/>
                          </a:solidFill>
                          <a:latin typeface="+mn-lt"/>
                          <a:ea typeface="+mn-ea"/>
                          <a:cs typeface="+mn-cs"/>
                        </a:rPr>
                        <a:t>IndicWhisper</a:t>
                      </a:r>
                      <a:r>
                        <a:rPr lang="en-IN" sz="1500" b="0" i="0" u="none" strike="noStrike" kern="1200" baseline="0" dirty="0">
                          <a:solidFill>
                            <a:schemeClr val="tx1"/>
                          </a:solidFill>
                          <a:latin typeface="+mn-lt"/>
                          <a:ea typeface="+mn-ea"/>
                          <a:cs typeface="+mn-cs"/>
                        </a:rPr>
                        <a:t> (</a:t>
                      </a:r>
                      <a:r>
                        <a:rPr lang="en-IN" sz="1500" b="0" i="0" u="none" strike="noStrike" kern="1200" baseline="0" dirty="0" err="1">
                          <a:solidFill>
                            <a:schemeClr val="tx1"/>
                          </a:solidFill>
                          <a:latin typeface="+mn-lt"/>
                          <a:ea typeface="+mn-ea"/>
                          <a:cs typeface="+mn-cs"/>
                        </a:rPr>
                        <a:t>Vistaar</a:t>
                      </a:r>
                      <a:r>
                        <a:rPr lang="en-IN" sz="1500" b="0" i="0" u="none" strike="noStrike" kern="1200" baseline="0" dirty="0">
                          <a:solidFill>
                            <a:schemeClr val="tx1"/>
                          </a:solidFill>
                          <a:latin typeface="+mn-lt"/>
                          <a:ea typeface="+mn-ea"/>
                          <a:cs typeface="+mn-cs"/>
                        </a:rPr>
                        <a:t> Benchmark) [2]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0" dirty="0">
                          <a:solidFill>
                            <a:schemeClr val="tx1"/>
                          </a:solidFill>
                          <a:effectLst/>
                          <a:latin typeface="Calibri (Body)"/>
                        </a:rPr>
                        <a:t>24.6</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Static, no deployment tests &amp; data annotation labour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485363"/>
                  </a:ext>
                </a:extLst>
              </a:tr>
              <a:tr h="27966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a:solidFill>
                            <a:schemeClr val="tx1"/>
                          </a:solidFill>
                          <a:latin typeface="+mn-lt"/>
                          <a:ea typeface="+mn-ea"/>
                          <a:cs typeface="+mn-cs"/>
                        </a:rPr>
                        <a:t>Google STT (</a:t>
                      </a:r>
                      <a:r>
                        <a:rPr lang="en-IN" sz="1500" b="0" i="0" u="none" strike="noStrike" kern="1200" baseline="0" dirty="0" err="1">
                          <a:solidFill>
                            <a:schemeClr val="tx1"/>
                          </a:solidFill>
                          <a:latin typeface="+mn-lt"/>
                          <a:ea typeface="+mn-ea"/>
                          <a:cs typeface="+mn-cs"/>
                        </a:rPr>
                        <a:t>Vistaar</a:t>
                      </a:r>
                      <a:r>
                        <a:rPr lang="en-IN" sz="1500" b="0" i="0" u="none" strike="noStrike" kern="1200" baseline="0" dirty="0">
                          <a:solidFill>
                            <a:schemeClr val="tx1"/>
                          </a:solidFill>
                          <a:latin typeface="+mn-lt"/>
                          <a:ea typeface="+mn-ea"/>
                          <a:cs typeface="+mn-cs"/>
                        </a:rPr>
                        <a:t> Benchmark) [2]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latin typeface="Calibri (Body)"/>
                          <a:ea typeface="Cambria" panose="02040503050406030204" pitchFamily="18" charset="0"/>
                          <a:cs typeface="Cambria" panose="02040503050406030204" pitchFamily="18" charset="0"/>
                        </a:rPr>
                        <a:t>44.3</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Static, no deployment tests &amp; data annotation labour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4246660"/>
                  </a:ext>
                </a:extLst>
              </a:tr>
              <a:tr h="27966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a:solidFill>
                            <a:schemeClr val="tx1"/>
                          </a:solidFill>
                          <a:latin typeface="+mn-lt"/>
                          <a:ea typeface="+mn-ea"/>
                          <a:cs typeface="+mn-cs"/>
                        </a:rPr>
                        <a:t>IndicWav2Vec (</a:t>
                      </a:r>
                      <a:r>
                        <a:rPr lang="en-IN" sz="1500" b="0" i="0" u="none" strike="noStrike" kern="1200" baseline="0" dirty="0" err="1">
                          <a:solidFill>
                            <a:schemeClr val="tx1"/>
                          </a:solidFill>
                          <a:latin typeface="+mn-lt"/>
                          <a:ea typeface="+mn-ea"/>
                          <a:cs typeface="+mn-cs"/>
                        </a:rPr>
                        <a:t>Vistaar</a:t>
                      </a:r>
                      <a:r>
                        <a:rPr lang="en-IN" sz="1500" b="0" i="0" u="none" strike="noStrike" kern="1200" baseline="0" dirty="0">
                          <a:solidFill>
                            <a:schemeClr val="tx1"/>
                          </a:solidFill>
                          <a:latin typeface="+mn-lt"/>
                          <a:ea typeface="+mn-ea"/>
                          <a:cs typeface="+mn-cs"/>
                        </a:rPr>
                        <a:t> Benchmark) [2]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b="0" dirty="0">
                          <a:solidFill>
                            <a:schemeClr val="tx1"/>
                          </a:solidFill>
                          <a:effectLst/>
                          <a:latin typeface="Calibri (Body)"/>
                          <a:ea typeface="Cambria" panose="02040503050406030204" pitchFamily="18" charset="0"/>
                          <a:cs typeface="Cambria" panose="02040503050406030204" pitchFamily="18" charset="0"/>
                        </a:rPr>
                        <a:t>28.7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dirty="0">
                          <a:solidFill>
                            <a:schemeClr val="tx1"/>
                          </a:solidFill>
                          <a:effectLst/>
                          <a:latin typeface="Calibri (Body)"/>
                          <a:ea typeface="Cambria" panose="02040503050406030204" pitchFamily="18" charset="0"/>
                          <a:cs typeface="Cambria" panose="02040503050406030204" pitchFamily="18" charset="0"/>
                        </a:rPr>
                        <a:t>Static, no deployment tests &amp; data annotation labour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835830"/>
                  </a:ext>
                </a:extLst>
              </a:tr>
              <a:tr h="27966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a:solidFill>
                            <a:schemeClr val="tx1"/>
                          </a:solidFill>
                          <a:latin typeface="+mn-lt"/>
                          <a:ea typeface="+mn-ea"/>
                          <a:cs typeface="+mn-cs"/>
                        </a:rPr>
                        <a:t>Dhvani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latin typeface="Calibri (Body)"/>
                        </a:rPr>
                        <a:t>3.00</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Only for Kannada language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7070350"/>
                  </a:ext>
                </a:extLst>
              </a:tr>
              <a:tr h="25391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500" b="0" dirty="0">
                          <a:solidFill>
                            <a:schemeClr val="tx1"/>
                          </a:solidFill>
                          <a:effectLst/>
                        </a:rPr>
                        <a:t>IVAN-ASR (OpenAI Whisper) – </a:t>
                      </a:r>
                      <a:r>
                        <a:rPr lang="en-US" sz="1500" b="1" dirty="0">
                          <a:solidFill>
                            <a:schemeClr val="tx1"/>
                          </a:solidFill>
                          <a:effectLst/>
                        </a:rPr>
                        <a:t>Proposed in this paper</a:t>
                      </a:r>
                      <a:endParaRPr lang="en-IN" sz="1500" b="1"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b="0" dirty="0">
                          <a:solidFill>
                            <a:schemeClr val="tx1"/>
                          </a:solidFill>
                          <a:effectLst/>
                          <a:latin typeface="Calibri (Body)"/>
                          <a:ea typeface="Cambria" panose="02040503050406030204" pitchFamily="18" charset="0"/>
                          <a:cs typeface="Cambria" panose="02040503050406030204" pitchFamily="18" charset="0"/>
                        </a:rPr>
                        <a:t>58.08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dirty="0">
                          <a:solidFill>
                            <a:schemeClr val="tx1"/>
                          </a:solidFill>
                          <a:effectLst/>
                          <a:latin typeface="Calibri (Body)"/>
                          <a:ea typeface="Cambria" panose="02040503050406030204" pitchFamily="18" charset="0"/>
                          <a:cs typeface="Cambria" panose="020405030504060302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2782789"/>
                  </a:ext>
                </a:extLst>
              </a:tr>
            </a:tbl>
          </a:graphicData>
        </a:graphic>
      </p:graphicFrame>
      <p:graphicFrame>
        <p:nvGraphicFramePr>
          <p:cNvPr id="18" name="Table 17">
            <a:extLst>
              <a:ext uri="{FF2B5EF4-FFF2-40B4-BE49-F238E27FC236}">
                <a16:creationId xmlns:a16="http://schemas.microsoft.com/office/drawing/2014/main" id="{D29626E1-2B93-ABD9-5B60-441382C6C41F}"/>
              </a:ext>
            </a:extLst>
          </p:cNvPr>
          <p:cNvGraphicFramePr>
            <a:graphicFrameLocks noGrp="1"/>
          </p:cNvGraphicFramePr>
          <p:nvPr>
            <p:extLst>
              <p:ext uri="{D42A27DB-BD31-4B8C-83A1-F6EECF244321}">
                <p14:modId xmlns:p14="http://schemas.microsoft.com/office/powerpoint/2010/main" val="688242437"/>
              </p:ext>
            </p:extLst>
          </p:nvPr>
        </p:nvGraphicFramePr>
        <p:xfrm>
          <a:off x="851716" y="4709930"/>
          <a:ext cx="10488561" cy="845294"/>
        </p:xfrm>
        <a:graphic>
          <a:graphicData uri="http://schemas.openxmlformats.org/drawingml/2006/table">
            <a:tbl>
              <a:tblPr firstRow="1" firstCol="1" bandRow="1">
                <a:tableStyleId>{5C22544A-7EE6-4342-B048-85BDC9FD1C3A}</a:tableStyleId>
              </a:tblPr>
              <a:tblGrid>
                <a:gridCol w="5172476">
                  <a:extLst>
                    <a:ext uri="{9D8B030D-6E8A-4147-A177-3AD203B41FA5}">
                      <a16:colId xmlns:a16="http://schemas.microsoft.com/office/drawing/2014/main" val="2157414593"/>
                    </a:ext>
                  </a:extLst>
                </a:gridCol>
                <a:gridCol w="2523638">
                  <a:extLst>
                    <a:ext uri="{9D8B030D-6E8A-4147-A177-3AD203B41FA5}">
                      <a16:colId xmlns:a16="http://schemas.microsoft.com/office/drawing/2014/main" val="395350613"/>
                    </a:ext>
                  </a:extLst>
                </a:gridCol>
                <a:gridCol w="2792447">
                  <a:extLst>
                    <a:ext uri="{9D8B030D-6E8A-4147-A177-3AD203B41FA5}">
                      <a16:colId xmlns:a16="http://schemas.microsoft.com/office/drawing/2014/main" val="1757092115"/>
                    </a:ext>
                  </a:extLst>
                </a:gridCol>
              </a:tblGrid>
              <a:tr h="290687">
                <a:tc>
                  <a:txBody>
                    <a:bodyPr/>
                    <a:lstStyle/>
                    <a:p>
                      <a:pPr algn="ctr">
                        <a:buNone/>
                      </a:pPr>
                      <a:r>
                        <a:rPr lang="en-US" sz="1500" dirty="0">
                          <a:solidFill>
                            <a:schemeClr val="tx1"/>
                          </a:solidFill>
                          <a:effectLst/>
                        </a:rPr>
                        <a:t>Model/System</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dirty="0" err="1">
                          <a:solidFill>
                            <a:schemeClr val="tx1"/>
                          </a:solidFill>
                          <a:effectLst/>
                        </a:rPr>
                        <a:t>BERTScore</a:t>
                      </a:r>
                      <a:r>
                        <a:rPr lang="en-US" sz="1500" dirty="0">
                          <a:solidFill>
                            <a:schemeClr val="tx1"/>
                          </a:solidFill>
                          <a:effectLst/>
                        </a:rPr>
                        <a:t> (F1-score)</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latin typeface="Calibri (Body)"/>
                          <a:ea typeface="Cambria" panose="02040503050406030204" pitchFamily="18" charset="0"/>
                          <a:cs typeface="Cambria" panose="02040503050406030204" pitchFamily="18" charset="0"/>
                        </a:rPr>
                        <a:t>Constraints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3312491"/>
                  </a:ext>
                </a:extLst>
              </a:tr>
              <a:tr h="290687">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a:solidFill>
                            <a:schemeClr val="tx1"/>
                          </a:solidFill>
                          <a:latin typeface="+mn-lt"/>
                          <a:ea typeface="+mn-ea"/>
                          <a:cs typeface="+mn-cs"/>
                        </a:rPr>
                        <a:t>Dhvani [1]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latin typeface="Calibri (Body)"/>
                        </a:rPr>
                        <a:t>97</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Only for Kannada language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7070350"/>
                  </a:ext>
                </a:extLst>
              </a:tr>
              <a:tr h="26392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500" b="0" dirty="0">
                          <a:solidFill>
                            <a:schemeClr val="tx1"/>
                          </a:solidFill>
                          <a:effectLst/>
                        </a:rPr>
                        <a:t>IVAN-ASR (OpenAI Whisper) – </a:t>
                      </a:r>
                      <a:r>
                        <a:rPr lang="en-US" sz="1500" b="1" dirty="0">
                          <a:solidFill>
                            <a:schemeClr val="tx1"/>
                          </a:solidFill>
                          <a:effectLst/>
                        </a:rPr>
                        <a:t>Proposed in this paper</a:t>
                      </a:r>
                      <a:endParaRPr lang="en-IN" sz="1500" b="1"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b="0" dirty="0">
                          <a:solidFill>
                            <a:schemeClr val="tx1"/>
                          </a:solidFill>
                          <a:effectLst/>
                          <a:latin typeface="Calibri (Body)"/>
                          <a:ea typeface="Cambria" panose="02040503050406030204" pitchFamily="18" charset="0"/>
                          <a:cs typeface="Cambria" panose="02040503050406030204" pitchFamily="18" charset="0"/>
                        </a:rPr>
                        <a:t>92.33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2782789"/>
                  </a:ext>
                </a:extLst>
              </a:tr>
            </a:tbl>
          </a:graphicData>
        </a:graphic>
      </p:graphicFrame>
      <p:sp>
        <p:nvSpPr>
          <p:cNvPr id="7" name="Date Placeholder 6">
            <a:extLst>
              <a:ext uri="{FF2B5EF4-FFF2-40B4-BE49-F238E27FC236}">
                <a16:creationId xmlns:a16="http://schemas.microsoft.com/office/drawing/2014/main" id="{3B8E4D3A-E498-5173-D223-3FD01C98B5B2}"/>
              </a:ext>
            </a:extLst>
          </p:cNvPr>
          <p:cNvSpPr>
            <a:spLocks noGrp="1"/>
          </p:cNvSpPr>
          <p:nvPr>
            <p:ph type="dt" sz="half" idx="10"/>
          </p:nvPr>
        </p:nvSpPr>
        <p:spPr/>
        <p:txBody>
          <a:bodyPr/>
          <a:lstStyle/>
          <a:p>
            <a:fld id="{AEF80EAE-A759-494C-ACF5-65D9368E9D67}"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extLst>
      <p:ext uri="{BB962C8B-B14F-4D97-AF65-F5344CB8AC3E}">
        <p14:creationId xmlns:p14="http://schemas.microsoft.com/office/powerpoint/2010/main" val="3400601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F3351-8E10-8AD9-3BE8-8501DF5562F6}"/>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748D8E5B-46F5-D7F9-E288-4CBF9057FE76}"/>
              </a:ext>
            </a:extLst>
          </p:cNvPr>
          <p:cNvGrpSpPr/>
          <p:nvPr/>
        </p:nvGrpSpPr>
        <p:grpSpPr>
          <a:xfrm>
            <a:off x="0" y="-8932"/>
            <a:ext cx="12192000" cy="6866932"/>
            <a:chOff x="0" y="-8932"/>
            <a:chExt cx="12192000" cy="6866932"/>
          </a:xfrm>
        </p:grpSpPr>
        <p:sp>
          <p:nvSpPr>
            <p:cNvPr id="3" name="Rectangle 2">
              <a:extLst>
                <a:ext uri="{FF2B5EF4-FFF2-40B4-BE49-F238E27FC236}">
                  <a16:creationId xmlns:a16="http://schemas.microsoft.com/office/drawing/2014/main" id="{E7AEB816-80D7-C5AF-3B3C-CEDF8EF4276C}"/>
                </a:ext>
              </a:extLst>
            </p:cNvPr>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917CD9DC-D1AA-A00A-EB02-16FA3CDE6B0E}"/>
                </a:ext>
              </a:extLst>
            </p:cNvPr>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4285170C-C99B-9B3E-D48D-CB56AE03DF53}"/>
                </a:ext>
              </a:extLst>
            </p:cNvPr>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a:extLst>
                <a:ext uri="{FF2B5EF4-FFF2-40B4-BE49-F238E27FC236}">
                  <a16:creationId xmlns:a16="http://schemas.microsoft.com/office/drawing/2014/main" id="{B9F91E16-EC88-A9A5-31BE-9CF687C02733}"/>
                </a:ext>
              </a:extLst>
            </p:cNvPr>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a:extLst>
              <a:ext uri="{FF2B5EF4-FFF2-40B4-BE49-F238E27FC236}">
                <a16:creationId xmlns:a16="http://schemas.microsoft.com/office/drawing/2014/main" id="{7EE6EC56-6874-3FBB-F152-F82F268D1EA6}"/>
              </a:ext>
            </a:extLst>
          </p:cNvPr>
          <p:cNvPicPr>
            <a:picLocks noChangeAspect="1"/>
          </p:cNvPicPr>
          <p:nvPr/>
        </p:nvPicPr>
        <p:blipFill>
          <a:blip r:embed="rId3"/>
          <a:stretch>
            <a:fillRect/>
          </a:stretch>
        </p:blipFill>
        <p:spPr>
          <a:xfrm>
            <a:off x="11226800" y="0"/>
            <a:ext cx="965200" cy="965200"/>
          </a:xfrm>
          <a:prstGeom prst="rect">
            <a:avLst/>
          </a:prstGeom>
        </p:spPr>
      </p:pic>
      <p:sp>
        <p:nvSpPr>
          <p:cNvPr id="5" name="Title 1">
            <a:extLst>
              <a:ext uri="{FF2B5EF4-FFF2-40B4-BE49-F238E27FC236}">
                <a16:creationId xmlns:a16="http://schemas.microsoft.com/office/drawing/2014/main" id="{D63DC467-0205-24A5-B01E-BC9D8BCA98B9}"/>
              </a:ext>
            </a:extLst>
          </p:cNvPr>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Results and Discussion</a:t>
            </a: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3F1CC0A-3FC2-0DF9-49E7-E421981E6A3B}"/>
              </a:ext>
            </a:extLst>
          </p:cNvPr>
          <p:cNvPicPr>
            <a:picLocks noChangeAspect="1"/>
          </p:cNvPicPr>
          <p:nvPr/>
        </p:nvPicPr>
        <p:blipFill>
          <a:blip r:embed="rId4"/>
          <a:stretch>
            <a:fillRect/>
          </a:stretch>
        </p:blipFill>
        <p:spPr>
          <a:xfrm>
            <a:off x="-5080" y="-8255"/>
            <a:ext cx="1515110" cy="955675"/>
          </a:xfrm>
          <a:prstGeom prst="rect">
            <a:avLst/>
          </a:prstGeom>
        </p:spPr>
      </p:pic>
      <p:sp>
        <p:nvSpPr>
          <p:cNvPr id="9" name="Content Placeholder 9">
            <a:extLst>
              <a:ext uri="{FF2B5EF4-FFF2-40B4-BE49-F238E27FC236}">
                <a16:creationId xmlns:a16="http://schemas.microsoft.com/office/drawing/2014/main" id="{582A5A76-8050-2929-699E-9B351D50CCF6}"/>
              </a:ext>
            </a:extLst>
          </p:cNvPr>
          <p:cNvSpPr txBox="1">
            <a:spLocks/>
          </p:cNvSpPr>
          <p:nvPr/>
        </p:nvSpPr>
        <p:spPr>
          <a:xfrm>
            <a:off x="3157847" y="5889660"/>
            <a:ext cx="5954964" cy="40447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500" b="1" dirty="0">
                <a:solidFill>
                  <a:schemeClr val="tx1"/>
                </a:solidFill>
              </a:rPr>
              <a:t>Table 7: Comparative Benchmarking of IVAN-NER (on F1-score)</a:t>
            </a:r>
          </a:p>
        </p:txBody>
      </p:sp>
      <p:sp>
        <p:nvSpPr>
          <p:cNvPr id="10" name="Content Placeholder 9">
            <a:extLst>
              <a:ext uri="{FF2B5EF4-FFF2-40B4-BE49-F238E27FC236}">
                <a16:creationId xmlns:a16="http://schemas.microsoft.com/office/drawing/2014/main" id="{7D0DDF74-7471-5965-5122-6A9F21320A68}"/>
              </a:ext>
            </a:extLst>
          </p:cNvPr>
          <p:cNvSpPr txBox="1">
            <a:spLocks/>
          </p:cNvSpPr>
          <p:nvPr/>
        </p:nvSpPr>
        <p:spPr>
          <a:xfrm>
            <a:off x="3228363" y="3654738"/>
            <a:ext cx="5735269" cy="35686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500" b="1" dirty="0">
                <a:solidFill>
                  <a:schemeClr val="tx1"/>
                </a:solidFill>
              </a:rPr>
              <a:t>Table 6: Benchmarking of IVAN-Translator (on F1-score)</a:t>
            </a:r>
          </a:p>
        </p:txBody>
      </p:sp>
      <p:sp>
        <p:nvSpPr>
          <p:cNvPr id="13" name="TextBox 12">
            <a:extLst>
              <a:ext uri="{FF2B5EF4-FFF2-40B4-BE49-F238E27FC236}">
                <a16:creationId xmlns:a16="http://schemas.microsoft.com/office/drawing/2014/main" id="{0176CCCD-EE80-0B63-DD19-1D91D9D800ED}"/>
              </a:ext>
            </a:extLst>
          </p:cNvPr>
          <p:cNvSpPr txBox="1"/>
          <p:nvPr/>
        </p:nvSpPr>
        <p:spPr>
          <a:xfrm>
            <a:off x="752474" y="1984536"/>
            <a:ext cx="10601325" cy="369332"/>
          </a:xfrm>
          <a:prstGeom prst="rect">
            <a:avLst/>
          </a:prstGeom>
          <a:noFill/>
        </p:spPr>
        <p:txBody>
          <a:bodyPr wrap="square" rtlCol="0">
            <a:spAutoFit/>
          </a:bodyPr>
          <a:lstStyle/>
          <a:p>
            <a:pPr algn="just"/>
            <a:r>
              <a:rPr lang="en-US" b="1" dirty="0"/>
              <a:t>The analysis of IVAN-Translator: </a:t>
            </a:r>
            <a:r>
              <a:rPr lang="en-US" dirty="0"/>
              <a:t>Overall processing latency per text sample is 0.297s.</a:t>
            </a:r>
            <a:endParaRPr lang="en-US" b="1" dirty="0"/>
          </a:p>
        </p:txBody>
      </p:sp>
      <p:graphicFrame>
        <p:nvGraphicFramePr>
          <p:cNvPr id="12" name="Table 11">
            <a:extLst>
              <a:ext uri="{FF2B5EF4-FFF2-40B4-BE49-F238E27FC236}">
                <a16:creationId xmlns:a16="http://schemas.microsoft.com/office/drawing/2014/main" id="{CCFF1AC4-5140-6217-FE60-E767232D6103}"/>
              </a:ext>
            </a:extLst>
          </p:cNvPr>
          <p:cNvGraphicFramePr>
            <a:graphicFrameLocks noGrp="1"/>
          </p:cNvGraphicFramePr>
          <p:nvPr>
            <p:extLst>
              <p:ext uri="{D42A27DB-BD31-4B8C-83A1-F6EECF244321}">
                <p14:modId xmlns:p14="http://schemas.microsoft.com/office/powerpoint/2010/main" val="506359538"/>
              </p:ext>
            </p:extLst>
          </p:nvPr>
        </p:nvGraphicFramePr>
        <p:xfrm>
          <a:off x="1816898" y="2403557"/>
          <a:ext cx="8558201" cy="1203508"/>
        </p:xfrm>
        <a:graphic>
          <a:graphicData uri="http://schemas.openxmlformats.org/drawingml/2006/table">
            <a:tbl>
              <a:tblPr firstRow="1" firstCol="1" bandRow="1">
                <a:tableStyleId>{5C22544A-7EE6-4342-B048-85BDC9FD1C3A}</a:tableStyleId>
              </a:tblPr>
              <a:tblGrid>
                <a:gridCol w="5918081">
                  <a:extLst>
                    <a:ext uri="{9D8B030D-6E8A-4147-A177-3AD203B41FA5}">
                      <a16:colId xmlns:a16="http://schemas.microsoft.com/office/drawing/2014/main" val="554412296"/>
                    </a:ext>
                  </a:extLst>
                </a:gridCol>
                <a:gridCol w="2640120">
                  <a:extLst>
                    <a:ext uri="{9D8B030D-6E8A-4147-A177-3AD203B41FA5}">
                      <a16:colId xmlns:a16="http://schemas.microsoft.com/office/drawing/2014/main" val="3654503657"/>
                    </a:ext>
                  </a:extLst>
                </a:gridCol>
              </a:tblGrid>
              <a:tr h="300877">
                <a:tc>
                  <a:txBody>
                    <a:bodyPr/>
                    <a:lstStyle/>
                    <a:p>
                      <a:pPr algn="ctr">
                        <a:buNone/>
                      </a:pPr>
                      <a:r>
                        <a:rPr lang="en-US" sz="1500" dirty="0">
                          <a:solidFill>
                            <a:schemeClr val="tx1"/>
                          </a:solidFill>
                          <a:effectLst/>
                        </a:rPr>
                        <a:t>Model/System</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dirty="0" err="1">
                          <a:solidFill>
                            <a:schemeClr val="tx1"/>
                          </a:solidFill>
                          <a:effectLst/>
                        </a:rPr>
                        <a:t>BERTScore</a:t>
                      </a:r>
                      <a:r>
                        <a:rPr lang="en-US" sz="1500" dirty="0">
                          <a:solidFill>
                            <a:schemeClr val="tx1"/>
                          </a:solidFill>
                          <a:effectLst/>
                        </a:rPr>
                        <a:t> (F1-score)</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3812242"/>
                  </a:ext>
                </a:extLst>
              </a:tr>
              <a:tr h="300877">
                <a:tc>
                  <a:txBody>
                    <a:bodyPr/>
                    <a:lstStyle/>
                    <a:p>
                      <a:pPr indent="182880" algn="just">
                        <a:lnSpc>
                          <a:spcPct val="95000"/>
                        </a:lnSpc>
                        <a:spcAft>
                          <a:spcPts val="600"/>
                        </a:spcAft>
                        <a:buNone/>
                        <a:tabLst>
                          <a:tab pos="182880" algn="l"/>
                          <a:tab pos="18415" algn="l"/>
                        </a:tabLst>
                      </a:pPr>
                      <a:r>
                        <a:rPr lang="en-IN" sz="1500" b="0" spc="-5" dirty="0">
                          <a:solidFill>
                            <a:schemeClr val="tx1"/>
                          </a:solidFill>
                          <a:effectLst/>
                        </a:rPr>
                        <a:t>Translation (nllb-200-distilled-600M) – </a:t>
                      </a:r>
                      <a:r>
                        <a:rPr lang="en-IN" sz="1500" b="1" spc="-5" dirty="0">
                          <a:solidFill>
                            <a:schemeClr val="tx1"/>
                          </a:solidFill>
                          <a:effectLst/>
                        </a:rPr>
                        <a:t>Proposed in this paper</a:t>
                      </a:r>
                      <a:endParaRPr lang="en-IN" sz="1500" b="1" spc="-5" dirty="0">
                        <a:solidFill>
                          <a:schemeClr val="tx1"/>
                        </a:solidFill>
                        <a:effectLst/>
                        <a:latin typeface="Times New Roman" panose="02020603050405020304" pitchFamily="18" charset="0"/>
                        <a:ea typeface="SimSun"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82880" algn="ctr">
                        <a:lnSpc>
                          <a:spcPct val="95000"/>
                        </a:lnSpc>
                        <a:spcAft>
                          <a:spcPts val="600"/>
                        </a:spcAft>
                        <a:buNone/>
                        <a:tabLst>
                          <a:tab pos="182880" algn="l"/>
                          <a:tab pos="18415" algn="l"/>
                        </a:tabLst>
                      </a:pPr>
                      <a:r>
                        <a:rPr lang="en-IN" sz="1500" b="0" spc="-5" dirty="0">
                          <a:solidFill>
                            <a:schemeClr val="tx1"/>
                          </a:solidFill>
                          <a:effectLst/>
                        </a:rPr>
                        <a:t>94.78</a:t>
                      </a:r>
                      <a:endParaRPr lang="en-IN" sz="1500" b="0" spc="-5" dirty="0">
                        <a:solidFill>
                          <a:schemeClr val="tx1"/>
                        </a:solidFill>
                        <a:effectLst/>
                        <a:latin typeface="Times New Roman" panose="02020603050405020304" pitchFamily="18" charset="0"/>
                        <a:ea typeface="SimSun"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2641865"/>
                  </a:ext>
                </a:extLst>
              </a:tr>
              <a:tr h="300877">
                <a:tc>
                  <a:txBody>
                    <a:bodyPr/>
                    <a:lstStyle/>
                    <a:p>
                      <a:pPr indent="182880" algn="just">
                        <a:lnSpc>
                          <a:spcPct val="95000"/>
                        </a:lnSpc>
                        <a:spcAft>
                          <a:spcPts val="600"/>
                        </a:spcAft>
                        <a:buNone/>
                        <a:tabLst>
                          <a:tab pos="182880" algn="l"/>
                          <a:tab pos="18415" algn="l"/>
                        </a:tabLst>
                      </a:pPr>
                      <a:r>
                        <a:rPr lang="en-IN" sz="1500" b="0" spc="-5" dirty="0">
                          <a:solidFill>
                            <a:schemeClr val="tx1"/>
                          </a:solidFill>
                          <a:effectLst/>
                        </a:rPr>
                        <a:t>Language Detection (</a:t>
                      </a:r>
                      <a:r>
                        <a:rPr lang="en-IN" sz="1500" b="0" spc="-5" dirty="0" err="1">
                          <a:solidFill>
                            <a:schemeClr val="tx1"/>
                          </a:solidFill>
                          <a:effectLst/>
                        </a:rPr>
                        <a:t>PolyGlot</a:t>
                      </a:r>
                      <a:r>
                        <a:rPr lang="en-IN" sz="1500" b="0" spc="-5" dirty="0">
                          <a:solidFill>
                            <a:schemeClr val="tx1"/>
                          </a:solidFill>
                          <a:effectLst/>
                        </a:rPr>
                        <a:t>) – </a:t>
                      </a:r>
                      <a:r>
                        <a:rPr lang="en-IN" sz="1500" b="1" spc="-5" dirty="0">
                          <a:solidFill>
                            <a:schemeClr val="tx1"/>
                          </a:solidFill>
                          <a:effectLst/>
                        </a:rPr>
                        <a:t>Proposed in this paper</a:t>
                      </a:r>
                      <a:endParaRPr lang="en-IN" sz="1500" b="1" spc="-5" dirty="0">
                        <a:solidFill>
                          <a:schemeClr val="tx1"/>
                        </a:solidFill>
                        <a:effectLst/>
                        <a:latin typeface="Times New Roman" panose="02020603050405020304" pitchFamily="18" charset="0"/>
                        <a:ea typeface="SimSun"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82880" algn="ctr">
                        <a:lnSpc>
                          <a:spcPct val="95000"/>
                        </a:lnSpc>
                        <a:spcAft>
                          <a:spcPts val="600"/>
                        </a:spcAft>
                        <a:buNone/>
                        <a:tabLst>
                          <a:tab pos="182880" algn="l"/>
                          <a:tab pos="18415" algn="l"/>
                        </a:tabLst>
                      </a:pPr>
                      <a:r>
                        <a:rPr lang="en-IN" sz="1500" b="0" spc="-5" dirty="0">
                          <a:solidFill>
                            <a:schemeClr val="tx1"/>
                          </a:solidFill>
                          <a:effectLst/>
                        </a:rPr>
                        <a:t>78.33</a:t>
                      </a:r>
                      <a:endParaRPr lang="en-IN" sz="1500" b="0" spc="-5" dirty="0">
                        <a:solidFill>
                          <a:schemeClr val="tx1"/>
                        </a:solidFill>
                        <a:effectLst/>
                        <a:latin typeface="Times New Roman" panose="02020603050405020304" pitchFamily="18" charset="0"/>
                        <a:ea typeface="SimSun"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3724977"/>
                  </a:ext>
                </a:extLst>
              </a:tr>
              <a:tr h="300877">
                <a:tc>
                  <a:txBody>
                    <a:bodyPr/>
                    <a:lstStyle/>
                    <a:p>
                      <a:pPr indent="182880" algn="just">
                        <a:lnSpc>
                          <a:spcPct val="95000"/>
                        </a:lnSpc>
                        <a:spcAft>
                          <a:spcPts val="600"/>
                        </a:spcAft>
                        <a:buNone/>
                        <a:tabLst>
                          <a:tab pos="182880" algn="l"/>
                          <a:tab pos="18415" algn="l"/>
                        </a:tabLst>
                      </a:pPr>
                      <a:r>
                        <a:rPr lang="en-IN" sz="1500" b="0" spc="-5" dirty="0">
                          <a:solidFill>
                            <a:schemeClr val="tx1"/>
                          </a:solidFill>
                          <a:effectLst/>
                        </a:rPr>
                        <a:t>Overall (Unified) – </a:t>
                      </a:r>
                      <a:r>
                        <a:rPr lang="en-IN" sz="1500" b="1" spc="-5" dirty="0">
                          <a:solidFill>
                            <a:schemeClr val="tx1"/>
                          </a:solidFill>
                          <a:effectLst/>
                        </a:rPr>
                        <a:t>Proposed in this paper</a:t>
                      </a:r>
                      <a:endParaRPr lang="en-IN" sz="1500" b="1" spc="-5" dirty="0">
                        <a:solidFill>
                          <a:schemeClr val="tx1"/>
                        </a:solidFill>
                        <a:effectLst/>
                        <a:latin typeface="Times New Roman" panose="02020603050405020304" pitchFamily="18" charset="0"/>
                        <a:ea typeface="SimSun"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82880" algn="ctr">
                        <a:lnSpc>
                          <a:spcPct val="95000"/>
                        </a:lnSpc>
                        <a:spcAft>
                          <a:spcPts val="600"/>
                        </a:spcAft>
                        <a:buNone/>
                        <a:tabLst>
                          <a:tab pos="182880" algn="l"/>
                          <a:tab pos="18415" algn="l"/>
                        </a:tabLst>
                      </a:pPr>
                      <a:r>
                        <a:rPr lang="en-IN" sz="1500" b="0" spc="-5" dirty="0">
                          <a:solidFill>
                            <a:schemeClr val="tx1"/>
                          </a:solidFill>
                          <a:effectLst/>
                        </a:rPr>
                        <a:t>86.55</a:t>
                      </a:r>
                      <a:endParaRPr lang="en-IN" sz="1500" b="0" spc="-5" dirty="0">
                        <a:solidFill>
                          <a:schemeClr val="tx1"/>
                        </a:solidFill>
                        <a:effectLst/>
                        <a:latin typeface="Times New Roman" panose="02020603050405020304" pitchFamily="18" charset="0"/>
                        <a:ea typeface="SimSun"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82705"/>
                  </a:ext>
                </a:extLst>
              </a:tr>
            </a:tbl>
          </a:graphicData>
        </a:graphic>
      </p:graphicFrame>
      <p:sp>
        <p:nvSpPr>
          <p:cNvPr id="18" name="TextBox 17">
            <a:extLst>
              <a:ext uri="{FF2B5EF4-FFF2-40B4-BE49-F238E27FC236}">
                <a16:creationId xmlns:a16="http://schemas.microsoft.com/office/drawing/2014/main" id="{89B0C69E-B105-73D5-5256-4F3F1C3D19F0}"/>
              </a:ext>
            </a:extLst>
          </p:cNvPr>
          <p:cNvSpPr txBox="1"/>
          <p:nvPr/>
        </p:nvSpPr>
        <p:spPr>
          <a:xfrm>
            <a:off x="752473" y="3979469"/>
            <a:ext cx="10601325" cy="369332"/>
          </a:xfrm>
          <a:prstGeom prst="rect">
            <a:avLst/>
          </a:prstGeom>
          <a:noFill/>
        </p:spPr>
        <p:txBody>
          <a:bodyPr wrap="square" rtlCol="0">
            <a:spAutoFit/>
          </a:bodyPr>
          <a:lstStyle/>
          <a:p>
            <a:pPr algn="just"/>
            <a:r>
              <a:rPr lang="en-US" b="1" dirty="0"/>
              <a:t>The comparative analysis of IVAN-NER: </a:t>
            </a:r>
            <a:r>
              <a:rPr lang="en-US" dirty="0"/>
              <a:t>Processing latency per OCRed document is 0.062s.</a:t>
            </a:r>
            <a:endParaRPr lang="en-US" b="1" dirty="0"/>
          </a:p>
        </p:txBody>
      </p:sp>
      <p:graphicFrame>
        <p:nvGraphicFramePr>
          <p:cNvPr id="20" name="Table 19">
            <a:extLst>
              <a:ext uri="{FF2B5EF4-FFF2-40B4-BE49-F238E27FC236}">
                <a16:creationId xmlns:a16="http://schemas.microsoft.com/office/drawing/2014/main" id="{B6EA2083-67AB-0C69-5ACE-E675573FE29C}"/>
              </a:ext>
            </a:extLst>
          </p:cNvPr>
          <p:cNvGraphicFramePr>
            <a:graphicFrameLocks noGrp="1"/>
          </p:cNvGraphicFramePr>
          <p:nvPr>
            <p:extLst>
              <p:ext uri="{D42A27DB-BD31-4B8C-83A1-F6EECF244321}">
                <p14:modId xmlns:p14="http://schemas.microsoft.com/office/powerpoint/2010/main" val="354524790"/>
              </p:ext>
            </p:extLst>
          </p:nvPr>
        </p:nvGraphicFramePr>
        <p:xfrm>
          <a:off x="658761" y="4399189"/>
          <a:ext cx="10773698" cy="1448109"/>
        </p:xfrm>
        <a:graphic>
          <a:graphicData uri="http://schemas.openxmlformats.org/drawingml/2006/table">
            <a:tbl>
              <a:tblPr firstRow="1" firstCol="1" bandRow="1">
                <a:tableStyleId>{5C22544A-7EE6-4342-B048-85BDC9FD1C3A}</a:tableStyleId>
              </a:tblPr>
              <a:tblGrid>
                <a:gridCol w="5400332">
                  <a:extLst>
                    <a:ext uri="{9D8B030D-6E8A-4147-A177-3AD203B41FA5}">
                      <a16:colId xmlns:a16="http://schemas.microsoft.com/office/drawing/2014/main" val="2157414593"/>
                    </a:ext>
                  </a:extLst>
                </a:gridCol>
                <a:gridCol w="1319166">
                  <a:extLst>
                    <a:ext uri="{9D8B030D-6E8A-4147-A177-3AD203B41FA5}">
                      <a16:colId xmlns:a16="http://schemas.microsoft.com/office/drawing/2014/main" val="395350613"/>
                    </a:ext>
                  </a:extLst>
                </a:gridCol>
                <a:gridCol w="4054200">
                  <a:extLst>
                    <a:ext uri="{9D8B030D-6E8A-4147-A177-3AD203B41FA5}">
                      <a16:colId xmlns:a16="http://schemas.microsoft.com/office/drawing/2014/main" val="1757092115"/>
                    </a:ext>
                  </a:extLst>
                </a:gridCol>
              </a:tblGrid>
              <a:tr h="317413">
                <a:tc>
                  <a:txBody>
                    <a:bodyPr/>
                    <a:lstStyle/>
                    <a:p>
                      <a:pPr algn="ctr">
                        <a:buNone/>
                      </a:pPr>
                      <a:r>
                        <a:rPr lang="en-US" sz="1500" dirty="0">
                          <a:solidFill>
                            <a:schemeClr val="tx1"/>
                          </a:solidFill>
                          <a:effectLst/>
                        </a:rPr>
                        <a:t>Model/System</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dirty="0">
                          <a:solidFill>
                            <a:schemeClr val="tx1"/>
                          </a:solidFill>
                          <a:effectLst/>
                        </a:rPr>
                        <a:t>F1-score</a:t>
                      </a:r>
                      <a:endParaRPr lang="en-IN" sz="150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500" dirty="0">
                          <a:solidFill>
                            <a:schemeClr val="tx1"/>
                          </a:solidFill>
                          <a:effectLst/>
                          <a:latin typeface="Calibri (Body)"/>
                          <a:ea typeface="Cambria" panose="02040503050406030204" pitchFamily="18" charset="0"/>
                          <a:cs typeface="Cambria" panose="02040503050406030204" pitchFamily="18" charset="0"/>
                        </a:rPr>
                        <a:t>Constraints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3312491"/>
                  </a:ext>
                </a:extLst>
              </a:tr>
              <a:tr h="28267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a:solidFill>
                            <a:schemeClr val="tx1"/>
                          </a:solidFill>
                          <a:latin typeface="+mn-lt"/>
                          <a:ea typeface="+mn-ea"/>
                          <a:cs typeface="+mn-cs"/>
                        </a:rPr>
                        <a:t>Ensemble (Claude-3.5 + GPT-4 + Gemini) [9]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b="0" dirty="0">
                          <a:solidFill>
                            <a:schemeClr val="tx1"/>
                          </a:solidFill>
                          <a:effectLst/>
                          <a:latin typeface="Calibri (Body)"/>
                          <a:ea typeface="Cambria" panose="02040503050406030204" pitchFamily="18" charset="0"/>
                          <a:cs typeface="Cambria" panose="02040503050406030204" pitchFamily="18" charset="0"/>
                        </a:rPr>
                        <a:t>94.7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English only, API costs and data privacy issues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2914134"/>
                  </a:ext>
                </a:extLst>
              </a:tr>
              <a:tr h="28267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a:solidFill>
                            <a:schemeClr val="tx1"/>
                          </a:solidFill>
                          <a:latin typeface="+mn-lt"/>
                          <a:ea typeface="+mn-ea"/>
                          <a:cs typeface="+mn-cs"/>
                        </a:rPr>
                        <a:t>LAFF (Bayesian Network, NCBI) [10]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b="0" dirty="0">
                          <a:solidFill>
                            <a:schemeClr val="tx1"/>
                          </a:solidFill>
                          <a:effectLst/>
                          <a:latin typeface="Calibri (Body)"/>
                          <a:ea typeface="Cambria" panose="02040503050406030204" pitchFamily="18" charset="0"/>
                          <a:cs typeface="Cambria" panose="02040503050406030204" pitchFamily="18" charset="0"/>
                        </a:rPr>
                        <a:t>73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Complex, inefficient and massive historical data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9788828"/>
                  </a:ext>
                </a:extLst>
              </a:tr>
              <a:tr h="28267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i="0" u="none" strike="noStrike" kern="1200" baseline="0" dirty="0">
                          <a:solidFill>
                            <a:schemeClr val="tx1"/>
                          </a:solidFill>
                          <a:latin typeface="+mn-lt"/>
                          <a:ea typeface="+mn-ea"/>
                          <a:cs typeface="+mn-cs"/>
                        </a:rPr>
                        <a:t>LAFF (Bayesian Network, Banking) [10]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500" b="0" dirty="0">
                          <a:solidFill>
                            <a:schemeClr val="tx1"/>
                          </a:solidFill>
                          <a:effectLst/>
                          <a:latin typeface="Calibri (Body)"/>
                          <a:ea typeface="Cambria" panose="02040503050406030204" pitchFamily="18" charset="0"/>
                          <a:cs typeface="Cambria" panose="02040503050406030204" pitchFamily="18" charset="0"/>
                        </a:rPr>
                        <a:t>78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500" b="0" dirty="0">
                          <a:solidFill>
                            <a:schemeClr val="tx1"/>
                          </a:solidFill>
                          <a:effectLst/>
                          <a:latin typeface="Calibri (Body)"/>
                          <a:ea typeface="Cambria" panose="02040503050406030204" pitchFamily="18" charset="0"/>
                          <a:cs typeface="Cambria" panose="02040503050406030204" pitchFamily="18" charset="0"/>
                        </a:rPr>
                        <a:t>Complex, inefficient and massive historical data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6083011"/>
                  </a:ext>
                </a:extLst>
              </a:tr>
              <a:tr h="282674">
                <a:tc>
                  <a:txBody>
                    <a:bodyPr/>
                    <a:lstStyle/>
                    <a:p>
                      <a:pPr algn="just">
                        <a:buNone/>
                      </a:pPr>
                      <a:r>
                        <a:rPr lang="en-US" sz="1500" b="0" dirty="0">
                          <a:solidFill>
                            <a:schemeClr val="tx1"/>
                          </a:solidFill>
                          <a:effectLst/>
                        </a:rPr>
                        <a:t>IVAN-NER (BERT-Doc-NER-Max) – </a:t>
                      </a:r>
                      <a:r>
                        <a:rPr lang="en-US" sz="1500" b="1" dirty="0">
                          <a:solidFill>
                            <a:schemeClr val="tx1"/>
                          </a:solidFill>
                          <a:effectLst/>
                        </a:rPr>
                        <a:t>Proposed in this paper</a:t>
                      </a:r>
                      <a:endParaRPr lang="en-IN" sz="1500" b="1"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500" b="0" dirty="0">
                          <a:solidFill>
                            <a:schemeClr val="tx1"/>
                          </a:solidFill>
                          <a:effectLst/>
                          <a:latin typeface="Calibri (Body)"/>
                        </a:rPr>
                        <a:t>79.8</a:t>
                      </a:r>
                      <a:endParaRPr lang="en-IN" sz="1500" b="0" dirty="0">
                        <a:solidFill>
                          <a:schemeClr val="tx1"/>
                        </a:solidFill>
                        <a:effectLst/>
                        <a:latin typeface="Calibri (Body)"/>
                        <a:ea typeface="Cambria"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1500" b="0" dirty="0">
                          <a:solidFill>
                            <a:schemeClr val="tx1"/>
                          </a:solidFill>
                          <a:effectLst/>
                          <a:latin typeface="Calibri (Body)"/>
                          <a:ea typeface="Cambria" panose="02040503050406030204" pitchFamily="18" charset="0"/>
                          <a:cs typeface="Cambria" panose="02040503050406030204" pitchFamily="18"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2589219"/>
                  </a:ext>
                </a:extLst>
              </a:tr>
            </a:tbl>
          </a:graphicData>
        </a:graphic>
      </p:graphicFrame>
      <p:sp>
        <p:nvSpPr>
          <p:cNvPr id="7" name="Date Placeholder 6">
            <a:extLst>
              <a:ext uri="{FF2B5EF4-FFF2-40B4-BE49-F238E27FC236}">
                <a16:creationId xmlns:a16="http://schemas.microsoft.com/office/drawing/2014/main" id="{7575B2DA-C1CF-28DC-16D6-3BA444F87323}"/>
              </a:ext>
            </a:extLst>
          </p:cNvPr>
          <p:cNvSpPr>
            <a:spLocks noGrp="1"/>
          </p:cNvSpPr>
          <p:nvPr>
            <p:ph type="dt" sz="half" idx="10"/>
          </p:nvPr>
        </p:nvSpPr>
        <p:spPr/>
        <p:txBody>
          <a:bodyPr/>
          <a:lstStyle/>
          <a:p>
            <a:fld id="{EC0BFDE7-5973-4BF7-9DBA-3127DC9660DF}"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extLst>
      <p:ext uri="{BB962C8B-B14F-4D97-AF65-F5344CB8AC3E}">
        <p14:creationId xmlns:p14="http://schemas.microsoft.com/office/powerpoint/2010/main" val="933771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Conclusion and Future Scope</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sp>
        <p:nvSpPr>
          <p:cNvPr id="7" name="TextBox 6">
            <a:extLst>
              <a:ext uri="{FF2B5EF4-FFF2-40B4-BE49-F238E27FC236}">
                <a16:creationId xmlns:a16="http://schemas.microsoft.com/office/drawing/2014/main" id="{69A07B0B-B1A9-53D4-42E7-840066AC5D1D}"/>
              </a:ext>
            </a:extLst>
          </p:cNvPr>
          <p:cNvSpPr txBox="1"/>
          <p:nvPr/>
        </p:nvSpPr>
        <p:spPr>
          <a:xfrm>
            <a:off x="752474" y="1984536"/>
            <a:ext cx="10601325" cy="3293209"/>
          </a:xfrm>
          <a:prstGeom prst="rect">
            <a:avLst/>
          </a:prstGeom>
          <a:noFill/>
        </p:spPr>
        <p:txBody>
          <a:bodyPr wrap="square" rtlCol="0">
            <a:spAutoFit/>
          </a:bodyPr>
          <a:lstStyle/>
          <a:p>
            <a:pPr algn="just"/>
            <a:r>
              <a:rPr lang="en-US" b="1" dirty="0"/>
              <a:t>A Concluding Summary: </a:t>
            </a:r>
            <a:r>
              <a:rPr lang="en-US" dirty="0"/>
              <a:t>This research introduces </a:t>
            </a:r>
            <a:r>
              <a:rPr lang="en-IN" dirty="0"/>
              <a:t>IVAN AI, integrated and optimized as a lightweight, easy-to-use multimodal framework for form-automation in India’s complex, code-mixed, multilingual landscape. This modular, edge-ready solution bridges significant research gaps in this resource-constrained NLP domain with considerable benchmarks and novelties with high enhancement potential, offering a robust and adaptable blueprint for enhancing digital governance, service delivery and accessibility.</a:t>
            </a:r>
            <a:endParaRPr lang="en-US" b="1" dirty="0"/>
          </a:p>
          <a:p>
            <a:pPr algn="just">
              <a:spcBef>
                <a:spcPts val="600"/>
              </a:spcBef>
            </a:pPr>
            <a:r>
              <a:rPr lang="en-US" b="1" dirty="0"/>
              <a:t>Limitations of the Framework:</a:t>
            </a:r>
            <a:r>
              <a:rPr lang="en-US" dirty="0"/>
              <a:t> Limited training data (100 annotated samples), legal restrictions to data generation, not properly optimized for numeric-only strings and handwritten inputs.</a:t>
            </a:r>
          </a:p>
          <a:p>
            <a:pPr algn="just">
              <a:spcBef>
                <a:spcPts val="600"/>
              </a:spcBef>
            </a:pPr>
            <a:r>
              <a:rPr lang="en-US" b="1" dirty="0"/>
              <a:t>Future Improvements: </a:t>
            </a:r>
            <a:r>
              <a:rPr lang="en-US" dirty="0"/>
              <a:t>Data augmentation with noisy OCR-samples, optimize IVAN-OCR on handwritten documents, optimize IVAN-ASR and IVAN-Translator on numeric-strings and complex ascents, design privacy and edge-deployment protocols for IVAN AI framework.</a:t>
            </a:r>
          </a:p>
        </p:txBody>
      </p:sp>
      <p:sp>
        <p:nvSpPr>
          <p:cNvPr id="9" name="Date Placeholder 8">
            <a:extLst>
              <a:ext uri="{FF2B5EF4-FFF2-40B4-BE49-F238E27FC236}">
                <a16:creationId xmlns:a16="http://schemas.microsoft.com/office/drawing/2014/main" id="{E8716067-5EB2-FE3D-BC8B-26BB486986FD}"/>
              </a:ext>
            </a:extLst>
          </p:cNvPr>
          <p:cNvSpPr>
            <a:spLocks noGrp="1"/>
          </p:cNvSpPr>
          <p:nvPr>
            <p:ph type="dt" sz="half" idx="10"/>
          </p:nvPr>
        </p:nvSpPr>
        <p:spPr/>
        <p:txBody>
          <a:bodyPr/>
          <a:lstStyle/>
          <a:p>
            <a:fld id="{46B3EB6C-595C-4128-AA31-CB3EA70D3BE3}"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5" name="Title 1"/>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5080" y="-8255"/>
            <a:ext cx="1515110" cy="955675"/>
          </a:xfrm>
          <a:prstGeom prst="rect">
            <a:avLst/>
          </a:prstGeom>
        </p:spPr>
      </p:pic>
      <p:sp>
        <p:nvSpPr>
          <p:cNvPr id="7" name="TextBox 6">
            <a:extLst>
              <a:ext uri="{FF2B5EF4-FFF2-40B4-BE49-F238E27FC236}">
                <a16:creationId xmlns:a16="http://schemas.microsoft.com/office/drawing/2014/main" id="{31B763E6-2E17-0A79-B690-17F7292877FF}"/>
              </a:ext>
            </a:extLst>
          </p:cNvPr>
          <p:cNvSpPr txBox="1"/>
          <p:nvPr/>
        </p:nvSpPr>
        <p:spPr>
          <a:xfrm>
            <a:off x="752474" y="1984536"/>
            <a:ext cx="10601325" cy="3903633"/>
          </a:xfrm>
          <a:prstGeom prst="rect">
            <a:avLst/>
          </a:prstGeom>
          <a:noFill/>
        </p:spPr>
        <p:txBody>
          <a:bodyPr wrap="square" rtlCol="0">
            <a:spAutoFit/>
          </a:bodyPr>
          <a:lstStyle/>
          <a:p>
            <a:pPr algn="just"/>
            <a:r>
              <a:rPr lang="en-US" sz="1700" dirty="0"/>
              <a:t>[1] A. R. Hegde et al., “Automated government form filling for aged and monolingual people using interactive tool,” Disability and Rehabilitation: Assistive Technology, vol. 19, no. 6, pp. 2260–2270, 2024, DOI: 10.1080/17483107.2023.2277825.</a:t>
            </a:r>
          </a:p>
          <a:p>
            <a:pPr algn="just">
              <a:spcBef>
                <a:spcPts val="800"/>
              </a:spcBef>
            </a:pPr>
            <a:r>
              <a:rPr lang="en-US" sz="1700" dirty="0"/>
              <a:t>[2] K. S. Bhogale et al., “</a:t>
            </a:r>
            <a:r>
              <a:rPr lang="en-US" sz="1700" dirty="0" err="1"/>
              <a:t>Vistaar</a:t>
            </a:r>
            <a:r>
              <a:rPr lang="en-US" sz="1700" dirty="0"/>
              <a:t>: Diverse benchmarks and training sets for Indian language ASR,” </a:t>
            </a:r>
            <a:r>
              <a:rPr lang="en-US" sz="1700" dirty="0" err="1"/>
              <a:t>arXiv</a:t>
            </a:r>
            <a:r>
              <a:rPr lang="en-US" sz="1700" dirty="0"/>
              <a:t>, vol. abs/2305.15386, pp. 1–6, Aug. 2023, DOI: 10.48550/arXiv.2305.15386.</a:t>
            </a:r>
          </a:p>
          <a:p>
            <a:pPr algn="just">
              <a:spcBef>
                <a:spcPts val="800"/>
              </a:spcBef>
            </a:pPr>
            <a:r>
              <a:rPr lang="en-US" sz="1700" dirty="0"/>
              <a:t>[3] R. Tewani, A. K. Dubey, A. Jain, E. Agarwal, and D. Mittal, “An efficient extraction of information from Indian Government issued documents Aadhar and PAN Card,” Fusion Practice and Applications, vol. 4, no. 2, pp. 56–61, 2021, DOI: 10.54216/FPA.040201.</a:t>
            </a:r>
          </a:p>
          <a:p>
            <a:pPr algn="just">
              <a:spcBef>
                <a:spcPts val="800"/>
              </a:spcBef>
            </a:pPr>
            <a:r>
              <a:rPr lang="en-US" sz="1700" dirty="0"/>
              <a:t>[4] S. Raghuvanshi, S. </a:t>
            </a:r>
            <a:r>
              <a:rPr lang="en-US" sz="1700" dirty="0" err="1"/>
              <a:t>Girase</a:t>
            </a:r>
            <a:r>
              <a:rPr lang="en-US" sz="1700" dirty="0"/>
              <a:t>, S. Patil, S. Chaudhari, and M. </a:t>
            </a:r>
            <a:r>
              <a:rPr lang="en-US" sz="1700" dirty="0" err="1"/>
              <a:t>Ahirrao</a:t>
            </a:r>
            <a:r>
              <a:rPr lang="en-US" sz="1700" dirty="0"/>
              <a:t>, “An end-to-end AI system for automated verification of Indian identity documents using OCR and large language models,” Int. J. Adv. Res. Sci. Commun. Technol., vol. 5, pp. 160–169, 2025, DOI: 10.48175/IJARSCT-29919.</a:t>
            </a:r>
          </a:p>
          <a:p>
            <a:pPr algn="just">
              <a:spcBef>
                <a:spcPts val="800"/>
              </a:spcBef>
            </a:pPr>
            <a:r>
              <a:rPr lang="en-US" sz="1700" dirty="0"/>
              <a:t>[5] S. R. </a:t>
            </a:r>
            <a:r>
              <a:rPr lang="en-US" sz="1700" dirty="0" err="1"/>
              <a:t>Narendranaath</a:t>
            </a:r>
            <a:r>
              <a:rPr lang="en-US" sz="1700" dirty="0"/>
              <a:t>, S. Muralidharan, R. Krishna Sai Ram, and V. Prema, “Automated OCR-based PAN card text extraction system,” Int. J. Res. Trends </a:t>
            </a:r>
            <a:r>
              <a:rPr lang="en-US" sz="1700" dirty="0" err="1"/>
              <a:t>Innov</a:t>
            </a:r>
            <a:r>
              <a:rPr lang="en-US" sz="1700" dirty="0"/>
              <a:t>. (IJRTI), vol. 10, no. 3, pp. B47–B53, Mar. 2025.</a:t>
            </a:r>
            <a:endParaRPr lang="en-IN" sz="1700" dirty="0"/>
          </a:p>
        </p:txBody>
      </p:sp>
      <p:sp>
        <p:nvSpPr>
          <p:cNvPr id="9" name="Date Placeholder 8">
            <a:extLst>
              <a:ext uri="{FF2B5EF4-FFF2-40B4-BE49-F238E27FC236}">
                <a16:creationId xmlns:a16="http://schemas.microsoft.com/office/drawing/2014/main" id="{1385B9D2-D2BA-4C32-9793-A16145E3CBEA}"/>
              </a:ext>
            </a:extLst>
          </p:cNvPr>
          <p:cNvSpPr>
            <a:spLocks noGrp="1"/>
          </p:cNvSpPr>
          <p:nvPr>
            <p:ph type="dt" sz="half" idx="10"/>
          </p:nvPr>
        </p:nvSpPr>
        <p:spPr/>
        <p:txBody>
          <a:bodyPr/>
          <a:lstStyle/>
          <a:p>
            <a:fld id="{FC6421B4-6808-4DE1-AC60-D01EE2538B29}"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A10C1-7EBE-81D5-AF86-52A5874389C2}"/>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01193448-92B9-3918-3EDC-A2A0E3B2FAC0}"/>
              </a:ext>
            </a:extLst>
          </p:cNvPr>
          <p:cNvGrpSpPr/>
          <p:nvPr/>
        </p:nvGrpSpPr>
        <p:grpSpPr>
          <a:xfrm>
            <a:off x="0" y="-8932"/>
            <a:ext cx="12192000" cy="6866932"/>
            <a:chOff x="0" y="-8932"/>
            <a:chExt cx="12192000" cy="6866932"/>
          </a:xfrm>
        </p:grpSpPr>
        <p:sp>
          <p:nvSpPr>
            <p:cNvPr id="3" name="Rectangle 2">
              <a:extLst>
                <a:ext uri="{FF2B5EF4-FFF2-40B4-BE49-F238E27FC236}">
                  <a16:creationId xmlns:a16="http://schemas.microsoft.com/office/drawing/2014/main" id="{FFDF4236-1512-221E-9356-D3122D4D5783}"/>
                </a:ext>
              </a:extLst>
            </p:cNvPr>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38635A31-B7D2-F2F4-2ED9-5D34E9863F67}"/>
                </a:ext>
              </a:extLst>
            </p:cNvPr>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7B3F52D-B0E9-2F5A-811F-953470A0D664}"/>
                </a:ext>
              </a:extLst>
            </p:cNvPr>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a:extLst>
                <a:ext uri="{FF2B5EF4-FFF2-40B4-BE49-F238E27FC236}">
                  <a16:creationId xmlns:a16="http://schemas.microsoft.com/office/drawing/2014/main" id="{C8D3B2E5-7587-C52E-32CD-19B1C3832EFD}"/>
                </a:ext>
              </a:extLst>
            </p:cNvPr>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a:extLst>
              <a:ext uri="{FF2B5EF4-FFF2-40B4-BE49-F238E27FC236}">
                <a16:creationId xmlns:a16="http://schemas.microsoft.com/office/drawing/2014/main" id="{7F60B5C9-352B-5ABA-6FDB-506056460E0B}"/>
              </a:ext>
            </a:extLst>
          </p:cNvPr>
          <p:cNvPicPr>
            <a:picLocks noChangeAspect="1"/>
          </p:cNvPicPr>
          <p:nvPr/>
        </p:nvPicPr>
        <p:blipFill>
          <a:blip r:embed="rId3"/>
          <a:stretch>
            <a:fillRect/>
          </a:stretch>
        </p:blipFill>
        <p:spPr>
          <a:xfrm>
            <a:off x="11226800" y="0"/>
            <a:ext cx="965200" cy="965200"/>
          </a:xfrm>
          <a:prstGeom prst="rect">
            <a:avLst/>
          </a:prstGeom>
        </p:spPr>
      </p:pic>
      <p:sp>
        <p:nvSpPr>
          <p:cNvPr id="5" name="Title 1">
            <a:extLst>
              <a:ext uri="{FF2B5EF4-FFF2-40B4-BE49-F238E27FC236}">
                <a16:creationId xmlns:a16="http://schemas.microsoft.com/office/drawing/2014/main" id="{56014D60-32F3-AA58-3C68-0EF8397B0BEE}"/>
              </a:ext>
            </a:extLst>
          </p:cNvPr>
          <p:cNvSpPr txBox="1"/>
          <p:nvPr/>
        </p:nvSpPr>
        <p:spPr>
          <a:xfrm>
            <a:off x="838200" y="1281475"/>
            <a:ext cx="10594258" cy="9626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9FB4BFB-A749-5983-9B92-A00970CB9AB1}"/>
              </a:ext>
            </a:extLst>
          </p:cNvPr>
          <p:cNvPicPr>
            <a:picLocks noChangeAspect="1"/>
          </p:cNvPicPr>
          <p:nvPr/>
        </p:nvPicPr>
        <p:blipFill>
          <a:blip r:embed="rId4"/>
          <a:stretch>
            <a:fillRect/>
          </a:stretch>
        </p:blipFill>
        <p:spPr>
          <a:xfrm>
            <a:off x="-5080" y="-8255"/>
            <a:ext cx="1515110" cy="955675"/>
          </a:xfrm>
          <a:prstGeom prst="rect">
            <a:avLst/>
          </a:prstGeom>
        </p:spPr>
      </p:pic>
      <p:sp>
        <p:nvSpPr>
          <p:cNvPr id="7" name="TextBox 6">
            <a:extLst>
              <a:ext uri="{FF2B5EF4-FFF2-40B4-BE49-F238E27FC236}">
                <a16:creationId xmlns:a16="http://schemas.microsoft.com/office/drawing/2014/main" id="{3CD31496-E7CA-4268-FD3E-DFAC0137800C}"/>
              </a:ext>
            </a:extLst>
          </p:cNvPr>
          <p:cNvSpPr txBox="1"/>
          <p:nvPr/>
        </p:nvSpPr>
        <p:spPr>
          <a:xfrm>
            <a:off x="752474" y="1984536"/>
            <a:ext cx="10601325" cy="3380413"/>
          </a:xfrm>
          <a:prstGeom prst="rect">
            <a:avLst/>
          </a:prstGeom>
          <a:noFill/>
        </p:spPr>
        <p:txBody>
          <a:bodyPr wrap="square" rtlCol="0">
            <a:spAutoFit/>
          </a:bodyPr>
          <a:lstStyle/>
          <a:p>
            <a:pPr algn="just"/>
            <a:r>
              <a:rPr lang="en-IN" sz="1700" dirty="0"/>
              <a:t>[6] S. Guan et al., “</a:t>
            </a:r>
            <a:r>
              <a:rPr lang="en-IN" sz="1700" dirty="0" err="1"/>
              <a:t>PreP</a:t>
            </a:r>
            <a:r>
              <a:rPr lang="en-IN" sz="1700" dirty="0"/>
              <a:t>-OCR: A complete pipeline for document image restoration and enhanced OCR accuracy,” </a:t>
            </a:r>
            <a:r>
              <a:rPr lang="en-IN" sz="1700" dirty="0" err="1"/>
              <a:t>arXiv</a:t>
            </a:r>
            <a:r>
              <a:rPr lang="en-IN" sz="1700" dirty="0"/>
              <a:t>, vol. abs/2505.20429, pp. 1–17, May 2025, DOI: 10.48550/arXiv.2505.20429</a:t>
            </a:r>
          </a:p>
          <a:p>
            <a:pPr algn="just">
              <a:spcBef>
                <a:spcPts val="800"/>
              </a:spcBef>
            </a:pPr>
            <a:r>
              <a:rPr lang="en-IN" sz="1700" dirty="0"/>
              <a:t>[7] Y. Dong et al., “SCAN: Semantic document layout analysis for textual and visual retrieval-augmented generation,” </a:t>
            </a:r>
            <a:r>
              <a:rPr lang="en-IN" sz="1700" dirty="0" err="1"/>
              <a:t>arXiv</a:t>
            </a:r>
            <a:r>
              <a:rPr lang="en-IN" sz="1700" dirty="0"/>
              <a:t>, vol. abs/2505.14381, pp. 1–20, Dec. 2025, DOI: 10.48550/arXiv.2505.14381.</a:t>
            </a:r>
          </a:p>
          <a:p>
            <a:pPr algn="just">
              <a:spcBef>
                <a:spcPts val="800"/>
              </a:spcBef>
            </a:pPr>
            <a:r>
              <a:rPr lang="en-IN" sz="1700" dirty="0"/>
              <a:t>[8] V. Ojha, “Automated Information Extraction System,” </a:t>
            </a:r>
            <a:r>
              <a:rPr lang="en-IN" sz="1700" dirty="0" err="1"/>
              <a:t>DataToBiz</a:t>
            </a:r>
            <a:r>
              <a:rPr lang="en-IN" sz="1700" dirty="0"/>
              <a:t>, 2024. </a:t>
            </a:r>
          </a:p>
          <a:p>
            <a:pPr algn="just">
              <a:spcBef>
                <a:spcPts val="800"/>
              </a:spcBef>
            </a:pPr>
            <a:r>
              <a:rPr lang="en-IN" sz="1700" dirty="0"/>
              <a:t>[9] R. K. Komma, “AI-powered vendor form automation: A comprehensive technical analysis of enterprise implementation,” Int. J. Sci. Res. </a:t>
            </a:r>
            <a:r>
              <a:rPr lang="en-IN" sz="1700" dirty="0" err="1"/>
              <a:t>Comput</a:t>
            </a:r>
            <a:r>
              <a:rPr lang="en-IN" sz="1700" dirty="0"/>
              <a:t>. Sci. Eng. Inf. Technol., vol. 11, no. 1, pp. 2975–2983, Jan.– Feb. 2025, DOI: 10.32628/CSEIT251112285</a:t>
            </a:r>
          </a:p>
          <a:p>
            <a:pPr algn="just">
              <a:spcBef>
                <a:spcPts val="800"/>
              </a:spcBef>
            </a:pPr>
            <a:r>
              <a:rPr lang="en-IN" sz="1700" dirty="0"/>
              <a:t>[10] H. Belgacem, X. Li, D. Bianculli, and L. C. Briand, “A machine learning approach for automated filling of categorical fields in data entry forms,” ACM Trans. </a:t>
            </a:r>
            <a:r>
              <a:rPr lang="en-IN" sz="1700" dirty="0" err="1"/>
              <a:t>Softw</a:t>
            </a:r>
            <a:r>
              <a:rPr lang="en-IN" sz="1700" dirty="0"/>
              <a:t>. Eng. </a:t>
            </a:r>
            <a:r>
              <a:rPr lang="en-IN" sz="1700" dirty="0" err="1"/>
              <a:t>Methodol</a:t>
            </a:r>
            <a:r>
              <a:rPr lang="en-IN" sz="1700" dirty="0"/>
              <a:t>., vol. 1, no. 1, Art. 1, 2022, DOI: 10.48550/arXiv.2202.08572.</a:t>
            </a:r>
          </a:p>
        </p:txBody>
      </p:sp>
      <p:sp>
        <p:nvSpPr>
          <p:cNvPr id="9" name="Date Placeholder 8">
            <a:extLst>
              <a:ext uri="{FF2B5EF4-FFF2-40B4-BE49-F238E27FC236}">
                <a16:creationId xmlns:a16="http://schemas.microsoft.com/office/drawing/2014/main" id="{E7B79652-2584-430B-7721-E45C832770C3}"/>
              </a:ext>
            </a:extLst>
          </p:cNvPr>
          <p:cNvSpPr>
            <a:spLocks noGrp="1"/>
          </p:cNvSpPr>
          <p:nvPr>
            <p:ph type="dt" sz="half" idx="10"/>
          </p:nvPr>
        </p:nvSpPr>
        <p:spPr/>
        <p:txBody>
          <a:bodyPr/>
          <a:lstStyle/>
          <a:p>
            <a:fld id="{98B548DE-7C25-4CE8-8F61-6749D055F207}"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extLst>
      <p:ext uri="{BB962C8B-B14F-4D97-AF65-F5344CB8AC3E}">
        <p14:creationId xmlns:p14="http://schemas.microsoft.com/office/powerpoint/2010/main" val="133227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8932"/>
            <a:ext cx="12192000" cy="6866932"/>
            <a:chOff x="0" y="-8932"/>
            <a:chExt cx="12192000" cy="6866932"/>
          </a:xfrm>
        </p:grpSpPr>
        <p:sp>
          <p:nvSpPr>
            <p:cNvPr id="3" name="Rectangle 2"/>
            <p:cNvSpPr/>
            <p:nvPr/>
          </p:nvSpPr>
          <p:spPr>
            <a:xfrm>
              <a:off x="0" y="0"/>
              <a:ext cx="12192000" cy="963561"/>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a:off x="0" y="1071718"/>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extLst>
                <a:ext uri="{28A0092B-C50C-407E-A947-70E740481C1C}">
                  <a14:useLocalDpi xmlns:a14="http://schemas.microsoft.com/office/drawing/2010/main" val="0"/>
                </a:ext>
              </a:extLst>
            </a:blip>
            <a:srcRect t="5389" b="5789"/>
            <a:stretch>
              <a:fillRect/>
            </a:stretch>
          </p:blipFill>
          <p:spPr>
            <a:xfrm>
              <a:off x="4425745" y="-8932"/>
              <a:ext cx="3340510" cy="981424"/>
            </a:xfrm>
            <a:prstGeom prst="rect">
              <a:avLst/>
            </a:prstGeom>
          </p:spPr>
        </p:pic>
        <p:sp>
          <p:nvSpPr>
            <p:cNvPr id="15" name="Rectangle 14"/>
            <p:cNvSpPr/>
            <p:nvPr/>
          </p:nvSpPr>
          <p:spPr>
            <a:xfrm>
              <a:off x="0" y="6272984"/>
              <a:ext cx="12192000" cy="585016"/>
            </a:xfrm>
            <a:prstGeom prst="rect">
              <a:avLst/>
            </a:prstGeom>
            <a:solidFill>
              <a:schemeClr val="accent5">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p:cNvPicPr>
            <a:picLocks noChangeAspect="1"/>
          </p:cNvPicPr>
          <p:nvPr/>
        </p:nvPicPr>
        <p:blipFill>
          <a:blip r:embed="rId3"/>
          <a:stretch>
            <a:fillRect/>
          </a:stretch>
        </p:blipFill>
        <p:spPr>
          <a:xfrm>
            <a:off x="11226800" y="0"/>
            <a:ext cx="965200" cy="965200"/>
          </a:xfrm>
          <a:prstGeom prst="rect">
            <a:avLst/>
          </a:prstGeom>
        </p:spPr>
      </p:pic>
      <p:sp>
        <p:nvSpPr>
          <p:cNvPr id="6" name="TextBox 5"/>
          <p:cNvSpPr txBox="1"/>
          <p:nvPr/>
        </p:nvSpPr>
        <p:spPr>
          <a:xfrm>
            <a:off x="3574026" y="3044279"/>
            <a:ext cx="5043948"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stretch>
            <a:fillRect/>
          </a:stretch>
        </p:blipFill>
        <p:spPr>
          <a:xfrm>
            <a:off x="-5080" y="-8255"/>
            <a:ext cx="1515110" cy="955675"/>
          </a:xfrm>
          <a:prstGeom prst="rect">
            <a:avLst/>
          </a:prstGeom>
        </p:spPr>
      </p:pic>
      <p:sp>
        <p:nvSpPr>
          <p:cNvPr id="7" name="Date Placeholder 6">
            <a:extLst>
              <a:ext uri="{FF2B5EF4-FFF2-40B4-BE49-F238E27FC236}">
                <a16:creationId xmlns:a16="http://schemas.microsoft.com/office/drawing/2014/main" id="{4A0FEF9B-D837-AE78-D275-DE0435C7C6CE}"/>
              </a:ext>
            </a:extLst>
          </p:cNvPr>
          <p:cNvSpPr>
            <a:spLocks noGrp="1"/>
          </p:cNvSpPr>
          <p:nvPr>
            <p:ph type="dt" sz="half" idx="10"/>
          </p:nvPr>
        </p:nvSpPr>
        <p:spPr/>
        <p:txBody>
          <a:bodyPr/>
          <a:lstStyle/>
          <a:p>
            <a:fld id="{5CD62B9F-685F-4EBC-99CF-EA732853D215}" type="datetime3">
              <a:rPr lang="en-US" b="1" smtClean="0">
                <a:solidFill>
                  <a:schemeClr val="bg2">
                    <a:lumMod val="20000"/>
                    <a:lumOff val="80000"/>
                  </a:schemeClr>
                </a:solidFill>
              </a:rPr>
              <a:t>5 August 2026</a:t>
            </a:fld>
            <a:endParaRPr lang="en-IN" b="1" dirty="0">
              <a:solidFill>
                <a:schemeClr val="bg2">
                  <a:lumMod val="20000"/>
                  <a:lumOff val="80000"/>
                </a:schemeClr>
              </a:solidFill>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477</TotalTime>
  <Words>1989</Words>
  <Application>Microsoft Office PowerPoint</Application>
  <PresentationFormat>Widescreen</PresentationFormat>
  <Paragraphs>200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(Body)</vt:lpstr>
      <vt:lpstr>Cambria</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ActSoftware</dc:creator>
  <cp:lastModifiedBy>Priyal Banerjee</cp:lastModifiedBy>
  <cp:revision>75</cp:revision>
  <dcterms:created xsi:type="dcterms:W3CDTF">2025-04-25T17:41:00Z</dcterms:created>
  <dcterms:modified xsi:type="dcterms:W3CDTF">2026-08-05T17:46:20Z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CD97B46AD6E5424297D85E52B46B706D_13</vt:lpwstr>
  </property>
  <property fmtid="{D5CDD505-2E9C-101B-9397-08002B2CF9AE}" pid="3" name="KSOProductBuildVer">
    <vt:lpwstr>1033-12.1.0.25862</vt:lpwstr>
  </property>
</Properties>
</file>